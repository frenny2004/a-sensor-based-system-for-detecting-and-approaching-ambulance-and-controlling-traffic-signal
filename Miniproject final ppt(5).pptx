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74" r:id="rId7"/>
    <p:sldId id="261" r:id="rId8"/>
    <p:sldId id="262" r:id="rId9"/>
    <p:sldId id="263" r:id="rId10"/>
    <p:sldId id="271" r:id="rId11"/>
    <p:sldId id="264" r:id="rId12"/>
    <p:sldId id="273"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h0zdyEFMHzws7voHrP1hwWno0O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87"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enny Saldanha" userId="68a5839061be3fbe" providerId="LiveId" clId="{784F1CA7-2F71-409E-89ED-2BFD02585877}"/>
    <pc:docChg chg="undo custSel addSld delSld modSld">
      <pc:chgData name="Frenny Saldanha" userId="68a5839061be3fbe" providerId="LiveId" clId="{784F1CA7-2F71-409E-89ED-2BFD02585877}" dt="2025-04-30T14:03:48.250" v="7" actId="21"/>
      <pc:docMkLst>
        <pc:docMk/>
      </pc:docMkLst>
      <pc:sldChg chg="modSp add del mod">
        <pc:chgData name="Frenny Saldanha" userId="68a5839061be3fbe" providerId="LiveId" clId="{784F1CA7-2F71-409E-89ED-2BFD02585877}" dt="2025-04-30T14:03:25.112" v="6" actId="1076"/>
        <pc:sldMkLst>
          <pc:docMk/>
          <pc:sldMk cId="0" sldId="258"/>
        </pc:sldMkLst>
        <pc:picChg chg="mod">
          <ac:chgData name="Frenny Saldanha" userId="68a5839061be3fbe" providerId="LiveId" clId="{784F1CA7-2F71-409E-89ED-2BFD02585877}" dt="2025-04-30T14:03:25.112" v="6" actId="1076"/>
          <ac:picMkLst>
            <pc:docMk/>
            <pc:sldMk cId="0" sldId="258"/>
            <ac:picMk id="3" creationId="{A765EC0C-58A4-A835-135C-A03DB6FE8257}"/>
          </ac:picMkLst>
        </pc:picChg>
      </pc:sldChg>
      <pc:sldChg chg="delSp mod">
        <pc:chgData name="Frenny Saldanha" userId="68a5839061be3fbe" providerId="LiveId" clId="{784F1CA7-2F71-409E-89ED-2BFD02585877}" dt="2025-04-30T14:03:48.250" v="7" actId="21"/>
        <pc:sldMkLst>
          <pc:docMk/>
          <pc:sldMk cId="0" sldId="260"/>
        </pc:sldMkLst>
        <pc:spChg chg="del">
          <ac:chgData name="Frenny Saldanha" userId="68a5839061be3fbe" providerId="LiveId" clId="{784F1CA7-2F71-409E-89ED-2BFD02585877}" dt="2025-04-30T14:03:48.250" v="7" actId="21"/>
          <ac:spMkLst>
            <pc:docMk/>
            <pc:sldMk cId="0" sldId="260"/>
            <ac:spMk id="122" creationId="{00000000-0000-0000-0000-000000000000}"/>
          </ac:spMkLst>
        </pc:spChg>
      </pc:sldChg>
      <pc:sldChg chg="delSp modSp mod">
        <pc:chgData name="Frenny Saldanha" userId="68a5839061be3fbe" providerId="LiveId" clId="{784F1CA7-2F71-409E-89ED-2BFD02585877}" dt="2025-04-30T14:02:58.553" v="3" actId="21"/>
        <pc:sldMkLst>
          <pc:docMk/>
          <pc:sldMk cId="2528013605" sldId="274"/>
        </pc:sldMkLst>
        <pc:spChg chg="del">
          <ac:chgData name="Frenny Saldanha" userId="68a5839061be3fbe" providerId="LiveId" clId="{784F1CA7-2F71-409E-89ED-2BFD02585877}" dt="2025-04-30T14:02:51.662" v="2" actId="21"/>
          <ac:spMkLst>
            <pc:docMk/>
            <pc:sldMk cId="2528013605" sldId="274"/>
            <ac:spMk id="121" creationId="{721F2F6F-67BE-198B-473B-F143303C5E11}"/>
          </ac:spMkLst>
        </pc:spChg>
        <pc:spChg chg="del">
          <ac:chgData name="Frenny Saldanha" userId="68a5839061be3fbe" providerId="LiveId" clId="{784F1CA7-2F71-409E-89ED-2BFD02585877}" dt="2025-04-30T14:02:58.553" v="3" actId="21"/>
          <ac:spMkLst>
            <pc:docMk/>
            <pc:sldMk cId="2528013605" sldId="274"/>
            <ac:spMk id="122" creationId="{F5F0C6A4-0433-6E62-CBB7-624E5ACBC535}"/>
          </ac:spMkLst>
        </pc:spChg>
        <pc:picChg chg="mod">
          <ac:chgData name="Frenny Saldanha" userId="68a5839061be3fbe" providerId="LiveId" clId="{784F1CA7-2F71-409E-89ED-2BFD02585877}" dt="2025-04-30T14:02:35.281" v="1" actId="14100"/>
          <ac:picMkLst>
            <pc:docMk/>
            <pc:sldMk cId="2528013605" sldId="274"/>
            <ac:picMk id="4" creationId="{409D2E26-E3E9-BD6F-3FCF-902A32DEFD2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70FCCFD0-DF05-658C-2A92-8E24F21ED640}"/>
            </a:ext>
          </a:extLst>
        </p:cNvPr>
        <p:cNvGrpSpPr/>
        <p:nvPr/>
      </p:nvGrpSpPr>
      <p:grpSpPr>
        <a:xfrm>
          <a:off x="0" y="0"/>
          <a:ext cx="0" cy="0"/>
          <a:chOff x="0" y="0"/>
          <a:chExt cx="0" cy="0"/>
        </a:xfrm>
      </p:grpSpPr>
      <p:sp>
        <p:nvSpPr>
          <p:cNvPr id="118" name="Google Shape;118;p5:notes">
            <a:extLst>
              <a:ext uri="{FF2B5EF4-FFF2-40B4-BE49-F238E27FC236}">
                <a16:creationId xmlns:a16="http://schemas.microsoft.com/office/drawing/2014/main" id="{EA4CE5DF-C674-384D-8E3D-B00464C55A7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a:extLst>
              <a:ext uri="{FF2B5EF4-FFF2-40B4-BE49-F238E27FC236}">
                <a16:creationId xmlns:a16="http://schemas.microsoft.com/office/drawing/2014/main" id="{E1A37CBE-2D90-022C-A360-4FC40E0AD6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3881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4664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4737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073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A60FF965-7A5B-D2CD-A3C4-6AC099FF4A78}"/>
            </a:ext>
          </a:extLst>
        </p:cNvPr>
        <p:cNvGrpSpPr/>
        <p:nvPr/>
      </p:nvGrpSpPr>
      <p:grpSpPr>
        <a:xfrm>
          <a:off x="0" y="0"/>
          <a:ext cx="0" cy="0"/>
          <a:chOff x="0" y="0"/>
          <a:chExt cx="0" cy="0"/>
        </a:xfrm>
      </p:grpSpPr>
      <p:sp>
        <p:nvSpPr>
          <p:cNvPr id="142" name="Google Shape;142;p8:notes">
            <a:extLst>
              <a:ext uri="{FF2B5EF4-FFF2-40B4-BE49-F238E27FC236}">
                <a16:creationId xmlns:a16="http://schemas.microsoft.com/office/drawing/2014/main" id="{45741EB7-71C2-EBEF-03E5-C337D01159E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a:extLst>
              <a:ext uri="{FF2B5EF4-FFF2-40B4-BE49-F238E27FC236}">
                <a16:creationId xmlns:a16="http://schemas.microsoft.com/office/drawing/2014/main" id="{7B403A45-524A-CC83-9050-C7128B6D5C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4049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8472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0"/>
          <p:cNvSpPr>
            <a:spLocks noGrp="1"/>
          </p:cNvSpPr>
          <p:nvPr>
            <p:ph type="pic" idx="2"/>
          </p:nvPr>
        </p:nvSpPr>
        <p:spPr>
          <a:xfrm>
            <a:off x="5183188" y="987425"/>
            <a:ext cx="6172200" cy="4873625"/>
          </a:xfrm>
          <a:prstGeom prst="rect">
            <a:avLst/>
          </a:prstGeom>
          <a:noFill/>
          <a:ln>
            <a:noFill/>
          </a:ln>
        </p:spPr>
      </p:sp>
      <p:sp>
        <p:nvSpPr>
          <p:cNvPr id="68" name="Google Shape;68;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creativecommons.org/licenses/by-nc/3.0/" TargetMode="External"/><Relationship Id="rId4" Type="http://schemas.openxmlformats.org/officeDocument/2006/relationships/hyperlink" Target="https://tejaswiblog.blogspot.com/2019/02/pretentious-traffic-rules-of-namma.ht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pxhere.com/en/photo/1389155"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1594338" y="940769"/>
            <a:ext cx="8795657" cy="3082332"/>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3600"/>
              <a:buFont typeface="Calibri"/>
              <a:buNone/>
            </a:pPr>
            <a:r>
              <a:rPr lang="en-US" sz="3600" b="1" cap="none" dirty="0"/>
              <a:t>ST JOSEPH ENGINEERING COLLEGE</a:t>
            </a:r>
            <a:br>
              <a:rPr lang="en-US" sz="3600" dirty="0"/>
            </a:br>
            <a:r>
              <a:rPr lang="en-US" sz="2000" b="1" dirty="0"/>
              <a:t>An Autonomous Institution</a:t>
            </a:r>
            <a:br>
              <a:rPr lang="en-US" sz="2000" b="1" dirty="0"/>
            </a:br>
            <a:br>
              <a:rPr lang="en-US" sz="3600" b="1" dirty="0"/>
            </a:br>
            <a:r>
              <a:rPr lang="en-US" sz="2800" b="1" dirty="0"/>
              <a:t>Department of Electronics and Communication Engineering</a:t>
            </a:r>
            <a:br>
              <a:rPr lang="en-US" sz="2800" b="1" dirty="0"/>
            </a:br>
            <a:br>
              <a:rPr lang="en-US" sz="2800" b="1" dirty="0"/>
            </a:br>
            <a:r>
              <a:rPr lang="en-US" sz="3600" b="1" dirty="0"/>
              <a:t>TITLE OF THE PROJECT</a:t>
            </a:r>
            <a:br>
              <a:rPr lang="en-US" sz="3600" b="1" dirty="0"/>
            </a:br>
            <a:br>
              <a:rPr lang="en-US" sz="4400" b="1" dirty="0"/>
            </a:br>
            <a:r>
              <a:rPr lang="en-US" sz="3100" b="1" dirty="0"/>
              <a:t>A sensor based system for detecting and approaching ambulance and controlling traffic signal</a:t>
            </a:r>
            <a:endParaRPr sz="3100" b="1" dirty="0"/>
          </a:p>
        </p:txBody>
      </p:sp>
      <p:sp>
        <p:nvSpPr>
          <p:cNvPr id="90" name="Google Shape;90;p1"/>
          <p:cNvSpPr txBox="1">
            <a:spLocks noGrp="1"/>
          </p:cNvSpPr>
          <p:nvPr>
            <p:ph type="subTitle" idx="1"/>
          </p:nvPr>
        </p:nvSpPr>
        <p:spPr>
          <a:xfrm>
            <a:off x="1867437" y="4574858"/>
            <a:ext cx="9555982" cy="1866019"/>
          </a:xfrm>
          <a:prstGeom prst="rect">
            <a:avLst/>
          </a:prstGeom>
          <a:noFill/>
          <a:ln>
            <a:noFill/>
          </a:ln>
        </p:spPr>
        <p:txBody>
          <a:bodyPr spcFirstLastPara="1" wrap="square" lIns="91425" tIns="45700" rIns="91425" bIns="45700" anchor="t" anchorCtr="0">
            <a:normAutofit fontScale="32500" lnSpcReduction="20000"/>
          </a:bodyPr>
          <a:lstStyle/>
          <a:p>
            <a:pPr marL="0" lvl="0" indent="0" algn="l" rtl="0">
              <a:lnSpc>
                <a:spcPct val="90000"/>
              </a:lnSpc>
              <a:spcBef>
                <a:spcPts val="1000"/>
              </a:spcBef>
              <a:spcAft>
                <a:spcPts val="0"/>
              </a:spcAft>
              <a:buClr>
                <a:schemeClr val="dk1"/>
              </a:buClr>
              <a:buSzPct val="100000"/>
              <a:buNone/>
            </a:pPr>
            <a:r>
              <a:rPr lang="en-GB" sz="5000" b="1" dirty="0">
                <a:latin typeface="Calibri" panose="020F0502020204030204" pitchFamily="34" charset="0"/>
                <a:ea typeface="Calibri" panose="020F0502020204030204" pitchFamily="34" charset="0"/>
                <a:cs typeface="Calibri" panose="020F0502020204030204" pitchFamily="34" charset="0"/>
                <a:sym typeface="Aharoni"/>
              </a:rPr>
              <a:t>Name of the student 1 : Frenny Chrystal Saldanha     USN: 4SO23EC028</a:t>
            </a:r>
          </a:p>
          <a:p>
            <a:pPr marL="0" lvl="0" indent="0" algn="l" rtl="0">
              <a:lnSpc>
                <a:spcPct val="90000"/>
              </a:lnSpc>
              <a:spcBef>
                <a:spcPts val="1000"/>
              </a:spcBef>
              <a:spcAft>
                <a:spcPts val="0"/>
              </a:spcAft>
              <a:buClr>
                <a:schemeClr val="dk1"/>
              </a:buClr>
              <a:buSzPct val="100000"/>
              <a:buNone/>
            </a:pPr>
            <a:r>
              <a:rPr lang="en-GB" sz="5000" b="1" dirty="0">
                <a:latin typeface="Calibri" panose="020F0502020204030204" pitchFamily="34" charset="0"/>
                <a:ea typeface="Calibri" panose="020F0502020204030204" pitchFamily="34" charset="0"/>
                <a:cs typeface="Calibri" panose="020F0502020204030204" pitchFamily="34" charset="0"/>
                <a:sym typeface="Aharoni"/>
              </a:rPr>
              <a:t>Name of the student 2 : G J </a:t>
            </a:r>
            <a:r>
              <a:rPr lang="en-GB" sz="5000" b="1" dirty="0" err="1">
                <a:latin typeface="Calibri" panose="020F0502020204030204" pitchFamily="34" charset="0"/>
                <a:ea typeface="Calibri" panose="020F0502020204030204" pitchFamily="34" charset="0"/>
                <a:cs typeface="Calibri" panose="020F0502020204030204" pitchFamily="34" charset="0"/>
                <a:sym typeface="Aharoni"/>
              </a:rPr>
              <a:t>Chithara</a:t>
            </a:r>
            <a:r>
              <a:rPr lang="en-GB" sz="5000" b="1" dirty="0">
                <a:latin typeface="Calibri" panose="020F0502020204030204" pitchFamily="34" charset="0"/>
                <a:ea typeface="Calibri" panose="020F0502020204030204" pitchFamily="34" charset="0"/>
                <a:cs typeface="Calibri" panose="020F0502020204030204" pitchFamily="34" charset="0"/>
                <a:sym typeface="Aharoni"/>
              </a:rPr>
              <a:t> </a:t>
            </a:r>
            <a:r>
              <a:rPr lang="en-GB" sz="5000" b="1" dirty="0" err="1">
                <a:latin typeface="Calibri" panose="020F0502020204030204" pitchFamily="34" charset="0"/>
                <a:ea typeface="Calibri" panose="020F0502020204030204" pitchFamily="34" charset="0"/>
                <a:cs typeface="Calibri" panose="020F0502020204030204" pitchFamily="34" charset="0"/>
                <a:sym typeface="Aharoni"/>
              </a:rPr>
              <a:t>Hirinja</a:t>
            </a:r>
            <a:r>
              <a:rPr lang="en-GB" sz="5000" b="1" dirty="0">
                <a:latin typeface="Calibri" panose="020F0502020204030204" pitchFamily="34" charset="0"/>
                <a:ea typeface="Calibri" panose="020F0502020204030204" pitchFamily="34" charset="0"/>
                <a:cs typeface="Calibri" panose="020F0502020204030204" pitchFamily="34" charset="0"/>
                <a:sym typeface="Aharoni"/>
              </a:rPr>
              <a:t>                USN: 4SO23EC029</a:t>
            </a:r>
          </a:p>
          <a:p>
            <a:pPr marL="0" lvl="0" indent="0" algn="l" rtl="0">
              <a:lnSpc>
                <a:spcPct val="90000"/>
              </a:lnSpc>
              <a:spcBef>
                <a:spcPts val="1000"/>
              </a:spcBef>
              <a:spcAft>
                <a:spcPts val="0"/>
              </a:spcAft>
              <a:buClr>
                <a:schemeClr val="dk1"/>
              </a:buClr>
              <a:buSzPct val="100000"/>
              <a:buNone/>
            </a:pPr>
            <a:r>
              <a:rPr lang="en-GB" sz="5000" b="1" dirty="0">
                <a:latin typeface="Calibri" panose="020F0502020204030204" pitchFamily="34" charset="0"/>
                <a:ea typeface="Calibri" panose="020F0502020204030204" pitchFamily="34" charset="0"/>
                <a:cs typeface="Calibri" panose="020F0502020204030204" pitchFamily="34" charset="0"/>
                <a:sym typeface="Aharoni"/>
              </a:rPr>
              <a:t>Name of the student 3 : Kannika D </a:t>
            </a:r>
            <a:r>
              <a:rPr lang="en-GB" sz="5000" b="1" dirty="0" err="1">
                <a:latin typeface="Calibri" panose="020F0502020204030204" pitchFamily="34" charset="0"/>
                <a:ea typeface="Calibri" panose="020F0502020204030204" pitchFamily="34" charset="0"/>
                <a:cs typeface="Calibri" panose="020F0502020204030204" pitchFamily="34" charset="0"/>
                <a:sym typeface="Aharoni"/>
              </a:rPr>
              <a:t>Ambekallu</a:t>
            </a:r>
            <a:r>
              <a:rPr lang="en-GB" sz="5000" b="1" dirty="0">
                <a:latin typeface="Calibri" panose="020F0502020204030204" pitchFamily="34" charset="0"/>
                <a:ea typeface="Calibri" panose="020F0502020204030204" pitchFamily="34" charset="0"/>
                <a:cs typeface="Calibri" panose="020F0502020204030204" pitchFamily="34" charset="0"/>
                <a:sym typeface="Aharoni"/>
              </a:rPr>
              <a:t>            USN: 4SO23EC043</a:t>
            </a:r>
          </a:p>
          <a:p>
            <a:pPr marL="0" lvl="0" indent="0" algn="l" rtl="0">
              <a:lnSpc>
                <a:spcPct val="90000"/>
              </a:lnSpc>
              <a:spcBef>
                <a:spcPts val="1000"/>
              </a:spcBef>
              <a:spcAft>
                <a:spcPts val="0"/>
              </a:spcAft>
              <a:buClr>
                <a:schemeClr val="dk1"/>
              </a:buClr>
              <a:buSzPct val="100000"/>
              <a:buNone/>
            </a:pPr>
            <a:r>
              <a:rPr lang="en-GB" sz="5000" b="1" dirty="0">
                <a:latin typeface="Calibri" panose="020F0502020204030204" pitchFamily="34" charset="0"/>
                <a:ea typeface="Calibri" panose="020F0502020204030204" pitchFamily="34" charset="0"/>
                <a:cs typeface="Calibri" panose="020F0502020204030204" pitchFamily="34" charset="0"/>
                <a:sym typeface="Aharoni"/>
              </a:rPr>
              <a:t>Name of the student 4 : Kushi </a:t>
            </a:r>
            <a:r>
              <a:rPr lang="en-GB" sz="5000" b="1" dirty="0" err="1">
                <a:latin typeface="Calibri" panose="020F0502020204030204" pitchFamily="34" charset="0"/>
                <a:ea typeface="Calibri" panose="020F0502020204030204" pitchFamily="34" charset="0"/>
                <a:cs typeface="Calibri" panose="020F0502020204030204" pitchFamily="34" charset="0"/>
                <a:sym typeface="Aharoni"/>
              </a:rPr>
              <a:t>Salyan</a:t>
            </a:r>
            <a:r>
              <a:rPr lang="en-GB" sz="5000" b="1" dirty="0">
                <a:latin typeface="Calibri" panose="020F0502020204030204" pitchFamily="34" charset="0"/>
                <a:ea typeface="Calibri" panose="020F0502020204030204" pitchFamily="34" charset="0"/>
                <a:cs typeface="Calibri" panose="020F0502020204030204" pitchFamily="34" charset="0"/>
                <a:sym typeface="Aharoni"/>
              </a:rPr>
              <a:t>                            USN : 4SO23EC048</a:t>
            </a:r>
          </a:p>
          <a:p>
            <a:pPr marL="0" lvl="0" indent="0" algn="ctr" rtl="0">
              <a:lnSpc>
                <a:spcPct val="90000"/>
              </a:lnSpc>
              <a:spcBef>
                <a:spcPts val="1000"/>
              </a:spcBef>
              <a:spcAft>
                <a:spcPts val="0"/>
              </a:spcAft>
              <a:buClr>
                <a:schemeClr val="dk1"/>
              </a:buClr>
              <a:buSzPct val="100000"/>
              <a:buNone/>
            </a:pPr>
            <a:endParaRPr sz="5000" b="1" dirty="0">
              <a:latin typeface="+mn-lt"/>
              <a:ea typeface="Aharoni"/>
              <a:cs typeface="Aharoni"/>
              <a:sym typeface="Aharoni"/>
            </a:endParaRPr>
          </a:p>
          <a:p>
            <a:pPr marL="0" lvl="0" indent="0" algn="ctr" rtl="0">
              <a:lnSpc>
                <a:spcPct val="90000"/>
              </a:lnSpc>
              <a:spcBef>
                <a:spcPts val="1000"/>
              </a:spcBef>
              <a:spcAft>
                <a:spcPts val="0"/>
              </a:spcAft>
              <a:buClr>
                <a:schemeClr val="lt1"/>
              </a:buClr>
              <a:buSzPct val="100000"/>
              <a:buNone/>
            </a:pPr>
            <a:r>
              <a:rPr lang="en-US" u="sng" dirty="0">
                <a:solidFill>
                  <a:schemeClr val="lt1"/>
                </a:solidFill>
                <a:latin typeface="Arial"/>
                <a:ea typeface="Arial"/>
                <a:cs typeface="Arial"/>
                <a:sym typeface="Arial"/>
              </a:rPr>
              <a:t>of</a:t>
            </a:r>
            <a:endParaRPr dirty="0">
              <a:solidFill>
                <a:schemeClr val="lt1"/>
              </a:solidFill>
            </a:endParaRPr>
          </a:p>
          <a:p>
            <a:pPr marL="0" lvl="0" indent="0" algn="ctr" rtl="0">
              <a:lnSpc>
                <a:spcPct val="90000"/>
              </a:lnSpc>
              <a:spcBef>
                <a:spcPts val="1000"/>
              </a:spcBef>
              <a:spcAft>
                <a:spcPts val="0"/>
              </a:spcAft>
              <a:buClr>
                <a:schemeClr val="dk1"/>
              </a:buClr>
              <a:buSzPct val="100000"/>
              <a:buNone/>
            </a:pPr>
            <a:endParaRPr dirty="0"/>
          </a:p>
        </p:txBody>
      </p:sp>
      <p:pic>
        <p:nvPicPr>
          <p:cNvPr id="91" name="Google Shape;91;p1" descr="logo sjec.jpg"/>
          <p:cNvPicPr preferRelativeResize="0"/>
          <p:nvPr/>
        </p:nvPicPr>
        <p:blipFill rotWithShape="1">
          <a:blip r:embed="rId3">
            <a:alphaModFix/>
          </a:blip>
          <a:srcRect/>
          <a:stretch/>
        </p:blipFill>
        <p:spPr>
          <a:xfrm>
            <a:off x="469456" y="417123"/>
            <a:ext cx="1397981" cy="105106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Contents</a:t>
            </a:r>
            <a:endParaRPr/>
          </a:p>
        </p:txBody>
      </p:sp>
      <p:sp>
        <p:nvSpPr>
          <p:cNvPr id="98" name="Google Shape;98;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Introduction</a:t>
            </a:r>
            <a:endParaRPr dirty="0"/>
          </a:p>
          <a:p>
            <a:pPr marL="228600" lvl="0" indent="-228600" algn="l" rtl="0">
              <a:lnSpc>
                <a:spcPct val="90000"/>
              </a:lnSpc>
              <a:spcBef>
                <a:spcPts val="1000"/>
              </a:spcBef>
              <a:spcAft>
                <a:spcPts val="0"/>
              </a:spcAft>
              <a:buClr>
                <a:schemeClr val="dk1"/>
              </a:buClr>
              <a:buSzPts val="2800"/>
              <a:buChar char="•"/>
            </a:pPr>
            <a:r>
              <a:rPr lang="en-US" dirty="0"/>
              <a:t>Objectives</a:t>
            </a:r>
            <a:endParaRPr dirty="0"/>
          </a:p>
          <a:p>
            <a:pPr marL="228600" lvl="0" indent="-228600" algn="l" rtl="0">
              <a:lnSpc>
                <a:spcPct val="90000"/>
              </a:lnSpc>
              <a:spcBef>
                <a:spcPts val="1000"/>
              </a:spcBef>
              <a:spcAft>
                <a:spcPts val="0"/>
              </a:spcAft>
              <a:buClr>
                <a:schemeClr val="dk1"/>
              </a:buClr>
              <a:buSzPts val="2800"/>
              <a:buChar char="•"/>
            </a:pPr>
            <a:r>
              <a:rPr lang="en-US" dirty="0"/>
              <a:t>Methodology</a:t>
            </a:r>
            <a:endParaRPr dirty="0"/>
          </a:p>
          <a:p>
            <a:pPr marL="228600" lvl="0" indent="-228600" algn="l" rtl="0">
              <a:lnSpc>
                <a:spcPct val="90000"/>
              </a:lnSpc>
              <a:spcBef>
                <a:spcPts val="1000"/>
              </a:spcBef>
              <a:spcAft>
                <a:spcPts val="0"/>
              </a:spcAft>
              <a:buClr>
                <a:schemeClr val="dk1"/>
              </a:buClr>
              <a:buSzPts val="2800"/>
              <a:buChar char="•"/>
            </a:pPr>
            <a:r>
              <a:rPr lang="en-US" dirty="0"/>
              <a:t>Results and Discussion</a:t>
            </a:r>
            <a:endParaRPr dirty="0"/>
          </a:p>
          <a:p>
            <a:pPr marL="228600" lvl="0" indent="-228600" algn="l" rtl="0">
              <a:lnSpc>
                <a:spcPct val="90000"/>
              </a:lnSpc>
              <a:spcBef>
                <a:spcPts val="1000"/>
              </a:spcBef>
              <a:spcAft>
                <a:spcPts val="0"/>
              </a:spcAft>
              <a:buClr>
                <a:schemeClr val="dk1"/>
              </a:buClr>
              <a:buSzPts val="2800"/>
              <a:buChar char="•"/>
            </a:pPr>
            <a:r>
              <a:rPr lang="en-US" dirty="0"/>
              <a:t>Conclusion </a:t>
            </a:r>
            <a:endParaRPr dirty="0"/>
          </a:p>
          <a:p>
            <a:pPr marL="228600" lvl="0" indent="-165100" algn="l" rtl="0">
              <a:lnSpc>
                <a:spcPct val="90000"/>
              </a:lnSpc>
              <a:spcBef>
                <a:spcPts val="1000"/>
              </a:spcBef>
              <a:spcAft>
                <a:spcPts val="0"/>
              </a:spcAft>
              <a:buSzPts val="1800"/>
              <a:buChar char="•"/>
            </a:pPr>
            <a:r>
              <a:rPr lang="en-US" dirty="0"/>
              <a:t>Learning Outcomes</a:t>
            </a:r>
            <a:endParaRPr dirty="0"/>
          </a:p>
          <a:p>
            <a:pPr marL="228600" lvl="0" indent="-228600" algn="l" rtl="0">
              <a:lnSpc>
                <a:spcPct val="90000"/>
              </a:lnSpc>
              <a:spcBef>
                <a:spcPts val="1000"/>
              </a:spcBef>
              <a:spcAft>
                <a:spcPts val="0"/>
              </a:spcAft>
              <a:buClr>
                <a:schemeClr val="dk1"/>
              </a:buClr>
              <a:buSzPts val="2800"/>
              <a:buChar char="•"/>
            </a:pPr>
            <a:r>
              <a:rPr lang="en-US" dirty="0"/>
              <a:t>References</a:t>
            </a:r>
            <a:endParaRPr dirty="0"/>
          </a:p>
          <a:p>
            <a:pPr marL="228600" lvl="0" indent="-50800" algn="l" rtl="0">
              <a:lnSpc>
                <a:spcPct val="90000"/>
              </a:lnSpc>
              <a:spcBef>
                <a:spcPts val="1000"/>
              </a:spcBef>
              <a:spcAft>
                <a:spcPts val="0"/>
              </a:spcAft>
              <a:buClr>
                <a:schemeClr val="dk1"/>
              </a:buClr>
              <a:buSzPts val="2800"/>
              <a:buNone/>
            </a:pPr>
            <a:endParaRPr dirty="0"/>
          </a:p>
        </p:txBody>
      </p:sp>
      <p:sp>
        <p:nvSpPr>
          <p:cNvPr id="99" name="Google Shape;9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Title of the project</a:t>
            </a:r>
            <a:endParaRPr/>
          </a:p>
        </p:txBody>
      </p:sp>
      <p:sp>
        <p:nvSpPr>
          <p:cNvPr id="100" name="Google Shape;10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Introduction</a:t>
            </a:r>
            <a:endParaRPr/>
          </a:p>
        </p:txBody>
      </p:sp>
      <p:sp>
        <p:nvSpPr>
          <p:cNvPr id="106" name="Google Shape;106;p3"/>
          <p:cNvSpPr txBox="1">
            <a:spLocks noGrp="1"/>
          </p:cNvSpPr>
          <p:nvPr>
            <p:ph type="body" idx="1"/>
          </p:nvPr>
        </p:nvSpPr>
        <p:spPr>
          <a:xfrm>
            <a:off x="838200" y="1515400"/>
            <a:ext cx="10515600" cy="4661563"/>
          </a:xfrm>
          <a:prstGeom prst="rect">
            <a:avLst/>
          </a:prstGeom>
          <a:noFill/>
          <a:ln>
            <a:noFill/>
          </a:ln>
        </p:spPr>
        <p:txBody>
          <a:bodyPr spcFirstLastPara="1" wrap="square" lIns="91425" tIns="45700" rIns="91425" bIns="45700" anchor="t" anchorCtr="0">
            <a:noAutofit/>
          </a:bodyPr>
          <a:lstStyle/>
          <a:p>
            <a:pPr marL="342900" lvl="0" indent="-342900">
              <a:buFont typeface="Symbol" panose="05050102010706020507" pitchFamily="18" charset="2"/>
              <a:buChar char=""/>
            </a:pPr>
            <a:endParaRPr lang="en-IN" sz="2000" dirty="0">
              <a:effectLst/>
              <a:latin typeface="Times New Roman" panose="02020603050405020304" pitchFamily="18" charset="0"/>
              <a:ea typeface="Times New Roman" panose="02020603050405020304" pitchFamily="18" charset="0"/>
            </a:endParaRPr>
          </a:p>
          <a:p>
            <a:pPr marL="228600" lvl="0" indent="-228600" algn="l" rtl="0">
              <a:lnSpc>
                <a:spcPct val="90000"/>
              </a:lnSpc>
              <a:spcBef>
                <a:spcPts val="0"/>
              </a:spcBef>
              <a:spcAft>
                <a:spcPts val="0"/>
              </a:spcAft>
              <a:buClr>
                <a:schemeClr val="dk1"/>
              </a:buClr>
              <a:buSzPts val="2800"/>
              <a:buChar char="•"/>
            </a:pPr>
            <a:r>
              <a:rPr lang="en-GB" sz="2000" dirty="0"/>
              <a:t>The integration of emergency vehicle prioritization (EVP) systems with traffic signals plays a crucial role in improving the efficiency of emergency response times, particularly for ambulances.</a:t>
            </a:r>
          </a:p>
          <a:p>
            <a:pPr marL="228600" lvl="0" indent="-228600" algn="l" rtl="0">
              <a:lnSpc>
                <a:spcPct val="90000"/>
              </a:lnSpc>
              <a:spcBef>
                <a:spcPts val="0"/>
              </a:spcBef>
              <a:spcAft>
                <a:spcPts val="0"/>
              </a:spcAft>
              <a:buClr>
                <a:schemeClr val="dk1"/>
              </a:buClr>
              <a:buSzPts val="2800"/>
              <a:buChar char="•"/>
            </a:pPr>
            <a:r>
              <a:rPr lang="en-GB" sz="2000" dirty="0"/>
              <a:t> Ambulance sirens are designed to alert other road users and traffic management systems to the presence of an emergency vehicle that needs to pass through traffic quickly. </a:t>
            </a:r>
          </a:p>
          <a:p>
            <a:pPr marL="228600" lvl="0" indent="-228600" algn="l" rtl="0">
              <a:lnSpc>
                <a:spcPct val="90000"/>
              </a:lnSpc>
              <a:spcBef>
                <a:spcPts val="0"/>
              </a:spcBef>
              <a:spcAft>
                <a:spcPts val="0"/>
              </a:spcAft>
              <a:buClr>
                <a:schemeClr val="dk1"/>
              </a:buClr>
              <a:buSzPts val="2800"/>
              <a:buChar char="•"/>
            </a:pPr>
            <a:r>
              <a:rPr lang="en-GB" sz="2000" dirty="0"/>
              <a:t>However, traditional traffic signal systems can create delays for ambulances, especially in high-traffic urban areas.</a:t>
            </a:r>
          </a:p>
          <a:p>
            <a:pPr marL="228600" lvl="0" indent="-228600" algn="l" rtl="0">
              <a:lnSpc>
                <a:spcPct val="90000"/>
              </a:lnSpc>
              <a:spcBef>
                <a:spcPts val="0"/>
              </a:spcBef>
              <a:spcAft>
                <a:spcPts val="0"/>
              </a:spcAft>
              <a:buClr>
                <a:schemeClr val="dk1"/>
              </a:buClr>
              <a:buSzPts val="2800"/>
              <a:buChar char="•"/>
            </a:pPr>
            <a:r>
              <a:rPr lang="en-GB" sz="2000" dirty="0"/>
              <a:t>So Here we have designed a model to control the traffic by using a sound sensor which senses the ambulance siren and stops all the vehicles in the traffic and lets the ambulance pass as soon as possible. </a:t>
            </a:r>
            <a:endParaRPr sz="2000" dirty="0"/>
          </a:p>
        </p:txBody>
      </p:sp>
      <p:sp>
        <p:nvSpPr>
          <p:cNvPr id="107" name="Google Shape;107;p3"/>
          <p:cNvSpPr txBox="1">
            <a:spLocks noGrp="1"/>
          </p:cNvSpPr>
          <p:nvPr>
            <p:ph type="ftr" idx="11"/>
          </p:nvPr>
        </p:nvSpPr>
        <p:spPr>
          <a:xfrm>
            <a:off x="4038600" y="2059912"/>
            <a:ext cx="4114800" cy="466156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Title of the project</a:t>
            </a:r>
            <a:endParaRPr dirty="0"/>
          </a:p>
        </p:txBody>
      </p:sp>
      <p:sp>
        <p:nvSpPr>
          <p:cNvPr id="108" name="Google Shape;108;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pic>
        <p:nvPicPr>
          <p:cNvPr id="3" name="Picture 2" descr="A group of vehicles on a road&#10;&#10;Description automatically generated">
            <a:extLst>
              <a:ext uri="{FF2B5EF4-FFF2-40B4-BE49-F238E27FC236}">
                <a16:creationId xmlns:a16="http://schemas.microsoft.com/office/drawing/2014/main" id="{A765EC0C-58A4-A835-135C-A03DB6FE825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4615700" y="4283933"/>
            <a:ext cx="3766300" cy="2351641"/>
          </a:xfrm>
          <a:prstGeom prst="rect">
            <a:avLst/>
          </a:prstGeom>
        </p:spPr>
      </p:pic>
      <p:sp>
        <p:nvSpPr>
          <p:cNvPr id="4" name="TextBox 3">
            <a:extLst>
              <a:ext uri="{FF2B5EF4-FFF2-40B4-BE49-F238E27FC236}">
                <a16:creationId xmlns:a16="http://schemas.microsoft.com/office/drawing/2014/main" id="{6647E923-015D-5774-36C8-76E3FA7B095E}"/>
              </a:ext>
            </a:extLst>
          </p:cNvPr>
          <p:cNvSpPr txBox="1"/>
          <p:nvPr/>
        </p:nvSpPr>
        <p:spPr>
          <a:xfrm>
            <a:off x="3458465" y="6820767"/>
            <a:ext cx="3766300" cy="230832"/>
          </a:xfrm>
          <a:prstGeom prst="rect">
            <a:avLst/>
          </a:prstGeom>
          <a:noFill/>
        </p:spPr>
        <p:txBody>
          <a:bodyPr wrap="square" rtlCol="0">
            <a:spAutoFit/>
          </a:bodyPr>
          <a:lstStyle/>
          <a:p>
            <a:r>
              <a:rPr lang="en-US" sz="900">
                <a:hlinkClick r:id="rId4" tooltip="https://tejaswiblog.blogspot.com/2019/02/pretentious-traffic-rules-of-namma.html"/>
              </a:rPr>
              <a:t>This Photo</a:t>
            </a:r>
            <a:r>
              <a:rPr lang="en-US" sz="900"/>
              <a:t> by Unknown Author is licensed under </a:t>
            </a:r>
            <a:r>
              <a:rPr lang="en-US" sz="900">
                <a:hlinkClick r:id="rId5" tooltip="https://creativecommons.org/licenses/by-nc/3.0/"/>
              </a:rPr>
              <a:t>CC BY-NC</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426218" y="136525"/>
            <a:ext cx="10515600" cy="7778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Objectives</a:t>
            </a:r>
            <a:endParaRPr dirty="0"/>
          </a:p>
        </p:txBody>
      </p:sp>
      <p:sp>
        <p:nvSpPr>
          <p:cNvPr id="114" name="Google Shape;114;p4"/>
          <p:cNvSpPr txBox="1">
            <a:spLocks noGrp="1"/>
          </p:cNvSpPr>
          <p:nvPr>
            <p:ph type="body" idx="1"/>
          </p:nvPr>
        </p:nvSpPr>
        <p:spPr>
          <a:xfrm>
            <a:off x="426218" y="1075174"/>
            <a:ext cx="11541369" cy="3737986"/>
          </a:xfrm>
          <a:prstGeom prst="rect">
            <a:avLst/>
          </a:prstGeom>
          <a:noFill/>
          <a:ln>
            <a:noFill/>
          </a:ln>
        </p:spPr>
        <p:txBody>
          <a:bodyPr spcFirstLastPara="1" wrap="square" lIns="91425" tIns="45700" rIns="91425" bIns="45700" anchor="t" anchorCtr="0">
            <a:noAutofit/>
          </a:bodyPr>
          <a:lstStyle/>
          <a:p>
            <a:pPr marL="342900" marR="0" lvl="0" indent="-342900" rtl="0">
              <a:lnSpc>
                <a:spcPct val="107000"/>
              </a:lnSpc>
              <a:spcAft>
                <a:spcPts val="800"/>
              </a:spcAft>
              <a:buFont typeface="Symbol" panose="05050102010706020507" pitchFamily="18" charset="2"/>
              <a:buChar char=""/>
            </a:pPr>
            <a:r>
              <a:rPr lang="en-IN" sz="2000" dirty="0">
                <a:effectLst/>
                <a:latin typeface="Times New Roman" panose="02020603050405020304" pitchFamily="18" charset="0"/>
                <a:ea typeface="Times New Roman" panose="02020603050405020304" pitchFamily="18" charset="0"/>
              </a:rPr>
              <a:t>The primary </a:t>
            </a:r>
            <a:r>
              <a:rPr lang="en-IN" sz="2000" dirty="0">
                <a:latin typeface="Times New Roman" panose="02020603050405020304" pitchFamily="18" charset="0"/>
                <a:ea typeface="Times New Roman" panose="02020603050405020304" pitchFamily="18" charset="0"/>
              </a:rPr>
              <a:t>objective </a:t>
            </a:r>
            <a:r>
              <a:rPr lang="en-IN" sz="2000" dirty="0">
                <a:effectLst/>
                <a:latin typeface="Times New Roman" panose="02020603050405020304" pitchFamily="18" charset="0"/>
                <a:ea typeface="Times New Roman" panose="02020603050405020304" pitchFamily="18" charset="0"/>
              </a:rPr>
              <a:t>of this project is to improve the emergency response system, particularly for ambulances. When an ambulance is on its way to an emergency, every second counts. </a:t>
            </a:r>
            <a:endParaRPr lang="en-US" sz="2000" dirty="0">
              <a:effectLst/>
              <a:latin typeface="Times New Roman" panose="02020603050405020304" pitchFamily="18" charset="0"/>
              <a:ea typeface="Times New Roman" panose="02020603050405020304" pitchFamily="18" charset="0"/>
            </a:endParaRPr>
          </a:p>
          <a:p>
            <a:pPr marL="342900" marR="0" lvl="0" indent="-342900">
              <a:lnSpc>
                <a:spcPct val="107000"/>
              </a:lnSpc>
              <a:spcAft>
                <a:spcPts val="800"/>
              </a:spcAft>
              <a:buFont typeface="Symbol" panose="05050102010706020507" pitchFamily="18" charset="2"/>
              <a:buChar char=""/>
            </a:pPr>
            <a:r>
              <a:rPr lang="en-IN" sz="2000" dirty="0">
                <a:effectLst/>
                <a:latin typeface="Times New Roman" panose="02020603050405020304" pitchFamily="18" charset="0"/>
                <a:ea typeface="Times New Roman" panose="02020603050405020304" pitchFamily="18" charset="0"/>
              </a:rPr>
              <a:t>In most traffic systems, the management of traffic lights is manually controlled, which are not responsive to real-time emergencies. Traffic police officers or road signs might provide some assistance, but these methods are prone to human error and delays, especially during high-traffic conditions.</a:t>
            </a:r>
            <a:endParaRPr lang="en-US" sz="2000" dirty="0">
              <a:effectLst/>
              <a:latin typeface="Times New Roman" panose="02020603050405020304" pitchFamily="18" charset="0"/>
              <a:ea typeface="Times New Roman" panose="02020603050405020304" pitchFamily="18" charset="0"/>
            </a:endParaRPr>
          </a:p>
          <a:p>
            <a:pPr marL="342900" marR="0" lvl="0" indent="-342900">
              <a:buFont typeface="Symbol" panose="05050102010706020507" pitchFamily="18" charset="2"/>
              <a:buChar char=""/>
            </a:pPr>
            <a:r>
              <a:rPr lang="en-IN" sz="2000" dirty="0">
                <a:effectLst/>
                <a:latin typeface="Times New Roman" panose="02020603050405020304" pitchFamily="18" charset="0"/>
                <a:ea typeface="Times New Roman" panose="02020603050405020304" pitchFamily="18" charset="0"/>
              </a:rPr>
              <a:t>By integrating a sound sensor and an Arduino Uno with existing traffic light systems, this project addresses the need for a real-time emergency response enhancement. This automated system reduces human error and delays, potentially saving lives.</a:t>
            </a:r>
          </a:p>
          <a:p>
            <a:pPr marL="342900">
              <a:buFont typeface="Symbol" panose="05050102010706020507" pitchFamily="18" charset="2"/>
              <a:buChar char=""/>
            </a:pPr>
            <a:r>
              <a:rPr lang="en-IN" sz="2000" dirty="0">
                <a:effectLst/>
                <a:latin typeface="Times New Roman" panose="02020603050405020304" pitchFamily="18" charset="0"/>
                <a:ea typeface="Times New Roman" panose="02020603050405020304" pitchFamily="18" charset="0"/>
              </a:rPr>
              <a:t>The project uses a sound sensor to detect the siren of an ambulance in real-time. Once detected, the system communicates with an Arduino Uno to change the traffic light signals, allowing the ambulance to pass through intersections without delay.</a:t>
            </a:r>
            <a:endParaRPr lang="en-US" sz="2000" dirty="0">
              <a:effectLst/>
              <a:latin typeface="Times New Roman" panose="02020603050405020304" pitchFamily="18" charset="0"/>
              <a:ea typeface="Times New Roman" panose="02020603050405020304" pitchFamily="18" charset="0"/>
            </a:endParaRPr>
          </a:p>
          <a:p>
            <a:pPr marL="342900" marR="0" lvl="0" indent="-342900">
              <a:buFont typeface="Symbol" panose="05050102010706020507" pitchFamily="18" charset="2"/>
              <a:buChar char=""/>
            </a:pPr>
            <a:endParaRPr lang="en-US" sz="2000" dirty="0">
              <a:effectLst/>
              <a:latin typeface="Times New Roman" panose="02020603050405020304" pitchFamily="18" charset="0"/>
              <a:ea typeface="Times New Roman" panose="02020603050405020304" pitchFamily="18" charset="0"/>
            </a:endParaRPr>
          </a:p>
          <a:p>
            <a:pPr marL="228600" lvl="0" indent="-228600" algn="l" rtl="0">
              <a:lnSpc>
                <a:spcPct val="90000"/>
              </a:lnSpc>
              <a:spcBef>
                <a:spcPts val="0"/>
              </a:spcBef>
              <a:spcAft>
                <a:spcPts val="0"/>
              </a:spcAft>
              <a:buClr>
                <a:schemeClr val="dk1"/>
              </a:buClr>
              <a:buSzPts val="2800"/>
              <a:buChar char="•"/>
            </a:pPr>
            <a:endParaRPr sz="2000" dirty="0"/>
          </a:p>
        </p:txBody>
      </p:sp>
      <p:sp>
        <p:nvSpPr>
          <p:cNvPr id="115" name="Google Shape;11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Title of the project</a:t>
            </a:r>
            <a:endParaRPr/>
          </a:p>
        </p:txBody>
      </p:sp>
      <p:sp>
        <p:nvSpPr>
          <p:cNvPr id="116" name="Google Shape;11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5" name="Picture 4" descr="A traffic lights on a street at night&#10;&#10;Description automatically generated">
            <a:extLst>
              <a:ext uri="{FF2B5EF4-FFF2-40B4-BE49-F238E27FC236}">
                <a16:creationId xmlns:a16="http://schemas.microsoft.com/office/drawing/2014/main" id="{6F09C4F8-8D91-D41C-9B8E-7F69B93F8F99}"/>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3832609" y="5111826"/>
            <a:ext cx="4526782" cy="17461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740229" y="-839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Methodology</a:t>
            </a:r>
            <a:endParaRPr dirty="0"/>
          </a:p>
        </p:txBody>
      </p:sp>
      <p:sp>
        <p:nvSpPr>
          <p:cNvPr id="123" name="Google Shape;123;p5"/>
          <p:cNvSpPr txBox="1">
            <a:spLocks noGrp="1"/>
          </p:cNvSpPr>
          <p:nvPr>
            <p:ph type="ftr" idx="11"/>
          </p:nvPr>
        </p:nvSpPr>
        <p:spPr>
          <a:xfrm>
            <a:off x="10676586" y="6439437"/>
            <a:ext cx="1535039" cy="41856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Title of the project</a:t>
            </a:r>
            <a:endParaRPr/>
          </a:p>
        </p:txBody>
      </p:sp>
      <p:sp>
        <p:nvSpPr>
          <p:cNvPr id="124" name="Google Shape;124;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3" name="Picture 2" descr="A diagram of a traffic light&#10;&#10;Description automatically generated">
            <a:extLst>
              <a:ext uri="{FF2B5EF4-FFF2-40B4-BE49-F238E27FC236}">
                <a16:creationId xmlns:a16="http://schemas.microsoft.com/office/drawing/2014/main" id="{DBE21D75-45DD-FC1F-5475-9EF302366D55}"/>
              </a:ext>
            </a:extLst>
          </p:cNvPr>
          <p:cNvPicPr>
            <a:picLocks noChangeAspect="1"/>
          </p:cNvPicPr>
          <p:nvPr/>
        </p:nvPicPr>
        <p:blipFill>
          <a:blip r:embed="rId3"/>
          <a:stretch>
            <a:fillRect/>
          </a:stretch>
        </p:blipFill>
        <p:spPr>
          <a:xfrm>
            <a:off x="1676401" y="957944"/>
            <a:ext cx="8436428" cy="59871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FE9BDB46-76F5-591F-6238-86D89EBABBE8}"/>
            </a:ext>
          </a:extLst>
        </p:cNvPr>
        <p:cNvGrpSpPr/>
        <p:nvPr/>
      </p:nvGrpSpPr>
      <p:grpSpPr>
        <a:xfrm>
          <a:off x="0" y="0"/>
          <a:ext cx="0" cy="0"/>
          <a:chOff x="0" y="0"/>
          <a:chExt cx="0" cy="0"/>
        </a:xfrm>
      </p:grpSpPr>
      <p:sp>
        <p:nvSpPr>
          <p:cNvPr id="123" name="Google Shape;123;p5">
            <a:extLst>
              <a:ext uri="{FF2B5EF4-FFF2-40B4-BE49-F238E27FC236}">
                <a16:creationId xmlns:a16="http://schemas.microsoft.com/office/drawing/2014/main" id="{2C2380C3-2485-17C8-046E-AFA78826D4DE}"/>
              </a:ext>
            </a:extLst>
          </p:cNvPr>
          <p:cNvSpPr txBox="1">
            <a:spLocks noGrp="1"/>
          </p:cNvSpPr>
          <p:nvPr>
            <p:ph type="ftr" idx="11"/>
          </p:nvPr>
        </p:nvSpPr>
        <p:spPr>
          <a:xfrm>
            <a:off x="10676586" y="6439437"/>
            <a:ext cx="1535039" cy="418563"/>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Title of the project</a:t>
            </a:r>
            <a:endParaRPr/>
          </a:p>
        </p:txBody>
      </p:sp>
      <p:sp>
        <p:nvSpPr>
          <p:cNvPr id="124" name="Google Shape;124;p5">
            <a:extLst>
              <a:ext uri="{FF2B5EF4-FFF2-40B4-BE49-F238E27FC236}">
                <a16:creationId xmlns:a16="http://schemas.microsoft.com/office/drawing/2014/main" id="{87F35DCA-D91D-EE66-CB9E-4029DCFE978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4" name="Picture 3">
            <a:extLst>
              <a:ext uri="{FF2B5EF4-FFF2-40B4-BE49-F238E27FC236}">
                <a16:creationId xmlns:a16="http://schemas.microsoft.com/office/drawing/2014/main" id="{409D2E26-E3E9-BD6F-3FCF-902A32DEFD2A}"/>
              </a:ext>
            </a:extLst>
          </p:cNvPr>
          <p:cNvPicPr>
            <a:picLocks noChangeAspect="1"/>
          </p:cNvPicPr>
          <p:nvPr/>
        </p:nvPicPr>
        <p:blipFill>
          <a:blip r:embed="rId3"/>
          <a:stretch>
            <a:fillRect/>
          </a:stretch>
        </p:blipFill>
        <p:spPr>
          <a:xfrm>
            <a:off x="2511847" y="149404"/>
            <a:ext cx="7044136" cy="6467334"/>
          </a:xfrm>
          <a:prstGeom prst="rect">
            <a:avLst/>
          </a:prstGeom>
        </p:spPr>
      </p:pic>
    </p:spTree>
    <p:extLst>
      <p:ext uri="{BB962C8B-B14F-4D97-AF65-F5344CB8AC3E}">
        <p14:creationId xmlns:p14="http://schemas.microsoft.com/office/powerpoint/2010/main" val="2528013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6"/>
          <p:cNvSpPr txBox="1">
            <a:spLocks noGrp="1"/>
          </p:cNvSpPr>
          <p:nvPr>
            <p:ph type="title"/>
          </p:nvPr>
        </p:nvSpPr>
        <p:spPr>
          <a:xfrm>
            <a:off x="599768"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Results and Discussion </a:t>
            </a:r>
            <a:endParaRPr dirty="0"/>
          </a:p>
        </p:txBody>
      </p:sp>
      <p:sp>
        <p:nvSpPr>
          <p:cNvPr id="130" name="Google Shape;130;p6"/>
          <p:cNvSpPr txBox="1">
            <a:spLocks noGrp="1"/>
          </p:cNvSpPr>
          <p:nvPr>
            <p:ph type="body" idx="1"/>
          </p:nvPr>
        </p:nvSpPr>
        <p:spPr>
          <a:xfrm>
            <a:off x="480552" y="1122183"/>
            <a:ext cx="10754032" cy="4613634"/>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IN" sz="2000" b="1" dirty="0">
                <a:effectLst/>
                <a:latin typeface="Times New Roman" panose="02020603050405020304" pitchFamily="18" charset="0"/>
                <a:ea typeface="Times New Roman" panose="02020603050405020304" pitchFamily="18" charset="0"/>
              </a:rPr>
              <a:t>Performance Evaluation:</a:t>
            </a:r>
          </a:p>
          <a:p>
            <a:pPr marL="0" lvl="0" indent="0" algn="l" rtl="0">
              <a:lnSpc>
                <a:spcPct val="90000"/>
              </a:lnSpc>
              <a:spcBef>
                <a:spcPts val="0"/>
              </a:spcBef>
              <a:spcAft>
                <a:spcPts val="0"/>
              </a:spcAft>
              <a:buClr>
                <a:schemeClr val="dk1"/>
              </a:buClr>
              <a:buSzPts val="2800"/>
              <a:buNone/>
            </a:pPr>
            <a:r>
              <a:rPr lang="en-US" sz="2000" dirty="0"/>
              <a:t> </a:t>
            </a:r>
            <a:r>
              <a:rPr lang="en-IN" sz="2000" dirty="0">
                <a:effectLst/>
                <a:latin typeface="Times New Roman" panose="02020603050405020304" pitchFamily="18" charset="0"/>
                <a:ea typeface="Times New Roman" panose="02020603050405020304" pitchFamily="18" charset="0"/>
              </a:rPr>
              <a:t>The accuracy of sound detection varied depending on ambient noise levels, but in most cases, the system functioned   effectively</a:t>
            </a:r>
          </a:p>
          <a:p>
            <a:pPr marL="0" lvl="0" indent="0" algn="l" rtl="0">
              <a:lnSpc>
                <a:spcPct val="90000"/>
              </a:lnSpc>
              <a:spcBef>
                <a:spcPts val="0"/>
              </a:spcBef>
              <a:spcAft>
                <a:spcPts val="0"/>
              </a:spcAft>
              <a:buClr>
                <a:schemeClr val="dk1"/>
              </a:buClr>
              <a:buSzPts val="2800"/>
              <a:buNone/>
            </a:pPr>
            <a:endParaRPr lang="en-IN" sz="2000" dirty="0">
              <a:effectLst/>
              <a:latin typeface="Times New Roman" panose="02020603050405020304" pitchFamily="18" charset="0"/>
              <a:ea typeface="Times New Roman" panose="02020603050405020304" pitchFamily="18" charset="0"/>
            </a:endParaRPr>
          </a:p>
          <a:p>
            <a:pPr indent="-457200">
              <a:spcBef>
                <a:spcPts val="0"/>
              </a:spcBef>
              <a:buSzPts val="2800"/>
            </a:pPr>
            <a:r>
              <a:rPr lang="en-IN" sz="2000" b="1" dirty="0">
                <a:effectLst/>
                <a:latin typeface="Times New Roman" panose="02020603050405020304" pitchFamily="18" charset="0"/>
                <a:ea typeface="Times New Roman" panose="02020603050405020304" pitchFamily="18" charset="0"/>
              </a:rPr>
              <a:t>Traffic Light Override:</a:t>
            </a:r>
          </a:p>
          <a:p>
            <a:pPr marL="0" indent="0">
              <a:spcBef>
                <a:spcPts val="0"/>
              </a:spcBef>
              <a:buSzPts val="2800"/>
              <a:buNone/>
            </a:pPr>
            <a:r>
              <a:rPr lang="en-IN" sz="2000" b="1" dirty="0">
                <a:latin typeface="Times New Roman" panose="02020603050405020304" pitchFamily="18" charset="0"/>
                <a:ea typeface="Times New Roman" panose="02020603050405020304" pitchFamily="18" charset="0"/>
              </a:rPr>
              <a:t> S</a:t>
            </a:r>
            <a:r>
              <a:rPr lang="en-IN" sz="2000" dirty="0">
                <a:effectLst/>
                <a:latin typeface="Times New Roman" panose="02020603050405020304" pitchFamily="18" charset="0"/>
                <a:ea typeface="Times New Roman" panose="02020603050405020304" pitchFamily="18" charset="0"/>
              </a:rPr>
              <a:t>uccessfully overrode the regular traffic light cycle, turning the red light on for the traffic vehicles.</a:t>
            </a:r>
          </a:p>
          <a:p>
            <a:pPr marL="0" indent="0">
              <a:spcBef>
                <a:spcPts val="0"/>
              </a:spcBef>
              <a:buSzPts val="2800"/>
              <a:buNone/>
            </a:pPr>
            <a:endParaRPr lang="en-IN" sz="2000" dirty="0">
              <a:effectLst/>
              <a:latin typeface="Times New Roman" panose="02020603050405020304" pitchFamily="18" charset="0"/>
              <a:ea typeface="Times New Roman" panose="02020603050405020304" pitchFamily="18" charset="0"/>
            </a:endParaRPr>
          </a:p>
          <a:p>
            <a:pPr marL="285750" indent="-285750">
              <a:spcBef>
                <a:spcPts val="0"/>
              </a:spcBef>
              <a:buSzPts val="2800"/>
            </a:pPr>
            <a:r>
              <a:rPr lang="en-IN" sz="2000" b="1" dirty="0">
                <a:effectLst/>
                <a:latin typeface="Times New Roman" panose="02020603050405020304" pitchFamily="18" charset="0"/>
                <a:ea typeface="Times New Roman" panose="02020603050405020304" pitchFamily="18" charset="0"/>
              </a:rPr>
              <a:t>Reduced Waiting Time for Emergency Vehicles</a:t>
            </a:r>
            <a:r>
              <a:rPr lang="en-IN" sz="2000" b="1" dirty="0">
                <a:latin typeface="Times New Roman" panose="02020603050405020304" pitchFamily="18" charset="0"/>
                <a:ea typeface="Times New Roman" panose="02020603050405020304" pitchFamily="18" charset="0"/>
              </a:rPr>
              <a:t>:</a:t>
            </a:r>
          </a:p>
          <a:p>
            <a:pPr marL="0" indent="0">
              <a:spcBef>
                <a:spcPts val="0"/>
              </a:spcBef>
              <a:buSzPts val="2800"/>
              <a:buNone/>
            </a:pPr>
            <a:r>
              <a:rPr lang="en-IN" sz="2000" dirty="0">
                <a:effectLst/>
                <a:latin typeface="Times New Roman" panose="02020603050405020304" pitchFamily="18" charset="0"/>
                <a:ea typeface="Times New Roman" panose="02020603050405020304" pitchFamily="18" charset="0"/>
              </a:rPr>
              <a:t>On average, the response time was reduced by </a:t>
            </a:r>
            <a:r>
              <a:rPr lang="en-IN" sz="2000" b="1" dirty="0">
                <a:effectLst/>
                <a:latin typeface="Times New Roman" panose="02020603050405020304" pitchFamily="18" charset="0"/>
                <a:ea typeface="Times New Roman" panose="02020603050405020304" pitchFamily="18" charset="0"/>
              </a:rPr>
              <a:t>40-60%</a:t>
            </a:r>
            <a:r>
              <a:rPr lang="en-IN" sz="2000" dirty="0">
                <a:effectLst/>
                <a:latin typeface="Times New Roman" panose="02020603050405020304" pitchFamily="18" charset="0"/>
                <a:ea typeface="Times New Roman" panose="02020603050405020304" pitchFamily="18" charset="0"/>
              </a:rPr>
              <a:t>, which directly contributed to a faster response time for  emergency services. This improvement is critical for saving lives, especially in situations where every second counts.</a:t>
            </a:r>
          </a:p>
          <a:p>
            <a:pPr marL="0" indent="0">
              <a:spcBef>
                <a:spcPts val="0"/>
              </a:spcBef>
              <a:buSzPts val="2800"/>
              <a:buNone/>
            </a:pPr>
            <a:endParaRPr lang="en-IN" sz="2000" dirty="0">
              <a:effectLst/>
              <a:latin typeface="Times New Roman" panose="02020603050405020304" pitchFamily="18" charset="0"/>
              <a:ea typeface="Times New Roman" panose="02020603050405020304" pitchFamily="18" charset="0"/>
            </a:endParaRPr>
          </a:p>
          <a:p>
            <a:pPr marL="285750" indent="-285750">
              <a:spcBef>
                <a:spcPts val="0"/>
              </a:spcBef>
              <a:buSzPts val="2800"/>
            </a:pPr>
            <a:r>
              <a:rPr lang="en-IN" sz="2000" b="1" dirty="0">
                <a:effectLst/>
                <a:latin typeface="Times New Roman" panose="02020603050405020304" pitchFamily="18" charset="0"/>
                <a:ea typeface="Times New Roman" panose="02020603050405020304" pitchFamily="18" charset="0"/>
              </a:rPr>
              <a:t>Impact on Regular Traffic</a:t>
            </a:r>
            <a:r>
              <a:rPr lang="en-IN" sz="2000" dirty="0">
                <a:effectLst/>
                <a:latin typeface="Times New Roman" panose="02020603050405020304" pitchFamily="18" charset="0"/>
                <a:ea typeface="Times New Roman" panose="02020603050405020304" pitchFamily="18" charset="0"/>
              </a:rPr>
              <a:t>:</a:t>
            </a:r>
          </a:p>
          <a:p>
            <a:pPr marL="285750" indent="-285750">
              <a:spcBef>
                <a:spcPts val="0"/>
              </a:spcBef>
              <a:buSzPts val="2800"/>
            </a:pPr>
            <a:r>
              <a:rPr lang="en-IN" sz="2000" dirty="0">
                <a:effectLst/>
                <a:latin typeface="Times New Roman" panose="02020603050405020304" pitchFamily="18" charset="0"/>
                <a:ea typeface="Times New Roman" panose="02020603050405020304" pitchFamily="18" charset="0"/>
              </a:rPr>
              <a:t>Although the system temporarily halts the regular traffic cycle when an ambulance is detected, the impact on regular traffic flow was minimal.</a:t>
            </a:r>
          </a:p>
          <a:p>
            <a:pPr marL="0" indent="0">
              <a:spcBef>
                <a:spcPts val="0"/>
              </a:spcBef>
              <a:buSzPts val="2800"/>
              <a:buNone/>
            </a:pPr>
            <a:endParaRPr lang="en-IN" sz="2000" dirty="0">
              <a:effectLst/>
              <a:latin typeface="Times New Roman" panose="02020603050405020304" pitchFamily="18" charset="0"/>
              <a:ea typeface="Times New Roman" panose="02020603050405020304" pitchFamily="18" charset="0"/>
            </a:endParaRPr>
          </a:p>
          <a:p>
            <a:pPr marL="285750" indent="-285750">
              <a:spcBef>
                <a:spcPts val="0"/>
              </a:spcBef>
              <a:buSzPts val="2800"/>
            </a:pPr>
            <a:r>
              <a:rPr lang="en-IN" sz="2000" b="1" dirty="0">
                <a:effectLst/>
                <a:latin typeface="Times New Roman" panose="02020603050405020304" pitchFamily="18" charset="0"/>
                <a:ea typeface="Times New Roman" panose="02020603050405020304" pitchFamily="18" charset="0"/>
              </a:rPr>
              <a:t>Wireless Communication</a:t>
            </a:r>
            <a:r>
              <a:rPr lang="en-IN" sz="2000" dirty="0">
                <a:effectLst/>
                <a:latin typeface="Times New Roman" panose="02020603050405020304" pitchFamily="18" charset="0"/>
                <a:ea typeface="Times New Roman" panose="02020603050405020304" pitchFamily="18" charset="0"/>
              </a:rPr>
              <a:t>:</a:t>
            </a:r>
          </a:p>
          <a:p>
            <a:pPr marL="0" indent="0">
              <a:spcBef>
                <a:spcPts val="0"/>
              </a:spcBef>
              <a:buSzPts val="2800"/>
              <a:buNone/>
            </a:pPr>
            <a:r>
              <a:rPr lang="en-IN" sz="2000" dirty="0">
                <a:effectLst/>
                <a:latin typeface="Times New Roman" panose="02020603050405020304" pitchFamily="18" charset="0"/>
                <a:ea typeface="Times New Roman" panose="02020603050405020304" pitchFamily="18" charset="0"/>
              </a:rPr>
              <a:t> </a:t>
            </a:r>
            <a:r>
              <a:rPr lang="en-IN" sz="2000" b="1" dirty="0">
                <a:effectLst/>
                <a:latin typeface="Times New Roman" panose="02020603050405020304" pitchFamily="18" charset="0"/>
                <a:ea typeface="Times New Roman" panose="02020603050405020304" pitchFamily="18" charset="0"/>
              </a:rPr>
              <a:t>wireless communication</a:t>
            </a:r>
            <a:r>
              <a:rPr lang="en-IN" sz="2000" dirty="0">
                <a:effectLst/>
                <a:latin typeface="Times New Roman" panose="02020603050405020304" pitchFamily="18" charset="0"/>
                <a:ea typeface="Times New Roman" panose="02020603050405020304" pitchFamily="18" charset="0"/>
              </a:rPr>
              <a:t> between sensors at multiple intersections. This would ensure that the entire route of the ambulance is cleared in advance, rather than only the immediate intersection where the system is located.</a:t>
            </a:r>
          </a:p>
          <a:p>
            <a:pPr marL="0" indent="0">
              <a:spcBef>
                <a:spcPts val="0"/>
              </a:spcBef>
              <a:buSzPts val="2800"/>
              <a:buNone/>
            </a:pPr>
            <a:endParaRPr lang="en-IN" sz="2000" dirty="0">
              <a:effectLst/>
              <a:latin typeface="Times New Roman" panose="02020603050405020304" pitchFamily="18" charset="0"/>
              <a:ea typeface="Times New Roman" panose="02020603050405020304" pitchFamily="18" charset="0"/>
            </a:endParaRPr>
          </a:p>
          <a:p>
            <a:pPr marL="0" indent="0">
              <a:spcBef>
                <a:spcPts val="0"/>
              </a:spcBef>
              <a:buSzPts val="2800"/>
              <a:buNone/>
            </a:pPr>
            <a:endParaRPr lang="en-IN" sz="2000" b="1" dirty="0">
              <a:latin typeface="Times New Roman" panose="02020603050405020304" pitchFamily="18" charset="0"/>
              <a:ea typeface="Times New Roman" panose="02020603050405020304" pitchFamily="18" charset="0"/>
            </a:endParaRPr>
          </a:p>
          <a:p>
            <a:pPr marL="285750" indent="-285750">
              <a:spcBef>
                <a:spcPts val="0"/>
              </a:spcBef>
              <a:buSzPts val="2800"/>
            </a:pPr>
            <a:endParaRPr lang="en-IN" sz="2000" b="1" dirty="0">
              <a:effectLst/>
              <a:latin typeface="Times New Roman" panose="02020603050405020304" pitchFamily="18" charset="0"/>
              <a:ea typeface="Times New Roman" panose="02020603050405020304" pitchFamily="18" charset="0"/>
            </a:endParaRPr>
          </a:p>
        </p:txBody>
      </p:sp>
      <p:sp>
        <p:nvSpPr>
          <p:cNvPr id="131" name="Google Shape;13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Title of the project</a:t>
            </a:r>
            <a:endParaRPr/>
          </a:p>
        </p:txBody>
      </p:sp>
      <p:sp>
        <p:nvSpPr>
          <p:cNvPr id="132" name="Google Shape;13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175468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Conclusion</a:t>
            </a:r>
            <a:endParaRPr/>
          </a:p>
        </p:txBody>
      </p:sp>
      <p:sp>
        <p:nvSpPr>
          <p:cNvPr id="138" name="Google Shape;138;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63550" indent="-285750">
              <a:spcBef>
                <a:spcPts val="0"/>
              </a:spcBef>
              <a:buSzPts val="2800"/>
            </a:pPr>
            <a:r>
              <a:rPr lang="en-IN" sz="2000" dirty="0">
                <a:effectLst/>
                <a:latin typeface="Times New Roman" panose="02020603050405020304" pitchFamily="18" charset="0"/>
                <a:ea typeface="Times New Roman" panose="02020603050405020304" pitchFamily="18" charset="0"/>
              </a:rPr>
              <a:t>The Ambulance Detection and Traffic Light Integration System proved to be an effective solution for enhancing the prioritization of emergency vehicles at intersections.</a:t>
            </a:r>
          </a:p>
          <a:p>
            <a:pPr marL="177800" indent="0">
              <a:spcBef>
                <a:spcPts val="0"/>
              </a:spcBef>
              <a:buSzPts val="2800"/>
              <a:buNone/>
            </a:pPr>
            <a:endParaRPr lang="en-IN" sz="2000" dirty="0">
              <a:effectLst/>
              <a:latin typeface="Times New Roman" panose="02020603050405020304" pitchFamily="18" charset="0"/>
              <a:ea typeface="Times New Roman" panose="02020603050405020304" pitchFamily="18" charset="0"/>
            </a:endParaRPr>
          </a:p>
          <a:p>
            <a:pPr marL="463550" indent="-285750">
              <a:spcBef>
                <a:spcPts val="0"/>
              </a:spcBef>
              <a:buSzPts val="2800"/>
            </a:pPr>
            <a:r>
              <a:rPr lang="en-IN" sz="2000" dirty="0">
                <a:effectLst/>
                <a:latin typeface="Times New Roman" panose="02020603050405020304" pitchFamily="18" charset="0"/>
                <a:ea typeface="Times New Roman" panose="02020603050405020304" pitchFamily="18" charset="0"/>
              </a:rPr>
              <a:t>The system achieved its goal of reducing delays for ambulances by detecting their sirens and adjusting traffic signals in real-time.</a:t>
            </a:r>
          </a:p>
          <a:p>
            <a:pPr marL="177800" indent="0">
              <a:spcBef>
                <a:spcPts val="0"/>
              </a:spcBef>
              <a:buSzPts val="2800"/>
              <a:buNone/>
            </a:pPr>
            <a:endParaRPr lang="en-IN" sz="2000" dirty="0">
              <a:effectLst/>
              <a:latin typeface="Times New Roman" panose="02020603050405020304" pitchFamily="18" charset="0"/>
              <a:ea typeface="Times New Roman" panose="02020603050405020304" pitchFamily="18" charset="0"/>
            </a:endParaRPr>
          </a:p>
          <a:p>
            <a:pPr marL="463550" indent="-285750">
              <a:spcBef>
                <a:spcPts val="0"/>
              </a:spcBef>
              <a:buSzPts val="2800"/>
            </a:pPr>
            <a:r>
              <a:rPr lang="en-IN" sz="2000" dirty="0">
                <a:effectLst/>
                <a:latin typeface="Times New Roman" panose="02020603050405020304" pitchFamily="18" charset="0"/>
                <a:ea typeface="Times New Roman" panose="02020603050405020304" pitchFamily="18" charset="0"/>
              </a:rPr>
              <a:t>While challenges related to noise interference and sensor range were observed, the system demonstrated strong potential for improving emergency response times.</a:t>
            </a:r>
          </a:p>
          <a:p>
            <a:pPr marL="285750" indent="-285750">
              <a:lnSpc>
                <a:spcPct val="107000"/>
              </a:lnSpc>
              <a:spcAft>
                <a:spcPts val="800"/>
              </a:spcAft>
              <a:buFont typeface="Arial" panose="020B0604020202020204" pitchFamily="34" charset="0"/>
              <a:buChar char="•"/>
            </a:pPr>
            <a:r>
              <a:rPr lang="en-IN" sz="2000" dirty="0">
                <a:effectLst/>
                <a:latin typeface="Times New Roman" panose="02020603050405020304" pitchFamily="18" charset="0"/>
                <a:ea typeface="Times New Roman" panose="02020603050405020304" pitchFamily="18" charset="0"/>
              </a:rPr>
              <a:t>The project laid the groundwork for more sophisticated, scalable traffic management solutions that could be deployed in </a:t>
            </a:r>
            <a:r>
              <a:rPr lang="en-IN" sz="2000" b="1" dirty="0">
                <a:effectLst/>
                <a:latin typeface="Times New Roman" panose="02020603050405020304" pitchFamily="18" charset="0"/>
                <a:ea typeface="Times New Roman" panose="02020603050405020304" pitchFamily="18" charset="0"/>
              </a:rPr>
              <a:t>smart cities</a:t>
            </a:r>
            <a:r>
              <a:rPr lang="en-IN" sz="2000" dirty="0">
                <a:effectLst/>
                <a:latin typeface="Times New Roman" panose="02020603050405020304" pitchFamily="18" charset="0"/>
                <a:ea typeface="Times New Roman" panose="02020603050405020304" pitchFamily="18" charset="0"/>
              </a:rPr>
              <a:t>. With further refinement, including the use of advanced signal processing, multiple sensors, and integration with smart traffic management systems, this system has the potential to greatly enhance urban traffic flow and emergency vehicle prioritization in the future. </a:t>
            </a:r>
          </a:p>
          <a:p>
            <a:pPr marL="463550" indent="-285750">
              <a:spcBef>
                <a:spcPts val="0"/>
              </a:spcBef>
              <a:buSzPts val="2800"/>
            </a:pPr>
            <a:endParaRPr lang="en-IN" sz="2000" dirty="0">
              <a:effectLst/>
              <a:latin typeface="Times New Roman" panose="02020603050405020304" pitchFamily="18" charset="0"/>
              <a:ea typeface="Times New Roman" panose="02020603050405020304" pitchFamily="18" charset="0"/>
            </a:endParaRPr>
          </a:p>
          <a:p>
            <a:pPr marL="0" lvl="0" indent="0">
              <a:lnSpc>
                <a:spcPct val="107000"/>
              </a:lnSpc>
              <a:spcAft>
                <a:spcPts val="800"/>
              </a:spcAft>
              <a:buNone/>
            </a:pPr>
            <a:endParaRPr lang="en-IN" sz="2000" dirty="0">
              <a:effectLst/>
              <a:latin typeface="Times New Roman" panose="02020603050405020304" pitchFamily="18" charset="0"/>
              <a:ea typeface="Times New Roman" panose="02020603050405020304" pitchFamily="18" charset="0"/>
            </a:endParaRPr>
          </a:p>
          <a:p>
            <a:pPr marL="228600" lvl="0" indent="-50800" algn="l" rtl="0">
              <a:lnSpc>
                <a:spcPct val="90000"/>
              </a:lnSpc>
              <a:spcBef>
                <a:spcPts val="0"/>
              </a:spcBef>
              <a:spcAft>
                <a:spcPts val="0"/>
              </a:spcAft>
              <a:buClr>
                <a:schemeClr val="dk1"/>
              </a:buClr>
              <a:buSzPts val="2800"/>
              <a:buNone/>
            </a:pPr>
            <a:endParaRPr sz="2000" dirty="0"/>
          </a:p>
        </p:txBody>
      </p:sp>
      <p:sp>
        <p:nvSpPr>
          <p:cNvPr id="139" name="Google Shape;139;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Title of the project</a:t>
            </a:r>
            <a:endParaRPr/>
          </a:p>
        </p:txBody>
      </p:sp>
      <p:sp>
        <p:nvSpPr>
          <p:cNvPr id="140" name="Google Shape;140;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50835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Learning Outcomes</a:t>
            </a:r>
            <a:endParaRPr/>
          </a:p>
        </p:txBody>
      </p:sp>
      <p:sp>
        <p:nvSpPr>
          <p:cNvPr id="146" name="Google Shape;146;p8"/>
          <p:cNvSpPr txBox="1">
            <a:spLocks noGrp="1"/>
          </p:cNvSpPr>
          <p:nvPr>
            <p:ph type="body" idx="1"/>
          </p:nvPr>
        </p:nvSpPr>
        <p:spPr>
          <a:xfrm>
            <a:off x="739048" y="1484103"/>
            <a:ext cx="10515600" cy="4351338"/>
          </a:xfrm>
          <a:prstGeom prst="rect">
            <a:avLst/>
          </a:prstGeom>
          <a:noFill/>
          <a:ln>
            <a:noFill/>
          </a:ln>
        </p:spPr>
        <p:txBody>
          <a:bodyPr spcFirstLastPara="1" wrap="square" lIns="91425" tIns="45700" rIns="91425" bIns="45700" anchor="t" anchorCtr="0">
            <a:noAutofit/>
          </a:bodyPr>
          <a:lstStyle/>
          <a:p>
            <a:pPr marL="0" indent="0">
              <a:spcBef>
                <a:spcPts val="0"/>
              </a:spcBef>
              <a:buSzPts val="2800"/>
              <a:buNone/>
            </a:pPr>
            <a:r>
              <a:rPr lang="en-IN" sz="2000" b="1"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Microcontroller Programming</a:t>
            </a:r>
            <a:r>
              <a:rPr lang="en-US" sz="2000" dirty="0">
                <a:effectLst/>
                <a:latin typeface="Times New Roman" panose="02020603050405020304" pitchFamily="18" charset="0"/>
                <a:ea typeface="Times New Roman" panose="02020603050405020304" pitchFamily="18" charset="0"/>
              </a:rPr>
              <a:t>: The project gave an in-depth understanding of programming a microcontroller (Arduino Uno) to handle real-time input/output operations. Specifically, it involved reading inputs from a </a:t>
            </a:r>
            <a:r>
              <a:rPr lang="en-US" sz="2000" b="1" dirty="0">
                <a:effectLst/>
                <a:latin typeface="Times New Roman" panose="02020603050405020304" pitchFamily="18" charset="0"/>
                <a:ea typeface="Times New Roman" panose="02020603050405020304" pitchFamily="18" charset="0"/>
              </a:rPr>
              <a:t>sound sensor</a:t>
            </a:r>
            <a:r>
              <a:rPr lang="en-US" sz="2000" dirty="0">
                <a:effectLst/>
                <a:latin typeface="Times New Roman" panose="02020603050405020304" pitchFamily="18" charset="0"/>
                <a:ea typeface="Times New Roman" panose="02020603050405020304" pitchFamily="18" charset="0"/>
              </a:rPr>
              <a:t>, processing the data, and controlling output devices like </a:t>
            </a:r>
            <a:r>
              <a:rPr lang="en-US" sz="2000" b="1" dirty="0">
                <a:effectLst/>
                <a:latin typeface="Times New Roman" panose="02020603050405020304" pitchFamily="18" charset="0"/>
                <a:ea typeface="Times New Roman" panose="02020603050405020304" pitchFamily="18" charset="0"/>
              </a:rPr>
              <a:t>traffic light relays</a:t>
            </a:r>
            <a:r>
              <a:rPr lang="en-US" sz="2000" dirty="0">
                <a:effectLst/>
                <a:latin typeface="Times New Roman" panose="02020603050405020304" pitchFamily="18" charset="0"/>
                <a:ea typeface="Times New Roman" panose="02020603050405020304" pitchFamily="18" charset="0"/>
              </a:rPr>
              <a:t>.</a:t>
            </a:r>
          </a:p>
          <a:p>
            <a:pPr marL="0" indent="0">
              <a:spcBef>
                <a:spcPts val="0"/>
              </a:spcBef>
              <a:buSzPts val="2800"/>
              <a:buNone/>
            </a:pPr>
            <a:endParaRPr lang="en-US" sz="2000" dirty="0">
              <a:effectLst/>
              <a:latin typeface="Times New Roman" panose="02020603050405020304" pitchFamily="18" charset="0"/>
              <a:ea typeface="Times New Roman" panose="02020603050405020304" pitchFamily="18" charset="0"/>
            </a:endParaRPr>
          </a:p>
          <a:p>
            <a:pPr marL="0" indent="0">
              <a:spcBef>
                <a:spcPts val="0"/>
              </a:spcBef>
              <a:buSzPts val="2800"/>
              <a:buNone/>
            </a:pPr>
            <a:r>
              <a:rPr lang="en-US" sz="2000" b="1" dirty="0">
                <a:effectLst/>
                <a:latin typeface="Times New Roman" panose="02020603050405020304" pitchFamily="18" charset="0"/>
                <a:ea typeface="Times New Roman" panose="02020603050405020304" pitchFamily="18" charset="0"/>
              </a:rPr>
              <a:t> Control Flow and Decision Making</a:t>
            </a:r>
            <a:r>
              <a:rPr lang="en-US" sz="2000" dirty="0">
                <a:effectLst/>
                <a:latin typeface="Times New Roman" panose="02020603050405020304" pitchFamily="18" charset="0"/>
                <a:ea typeface="Times New Roman" panose="02020603050405020304" pitchFamily="18" charset="0"/>
              </a:rPr>
              <a:t>: The project involved creating logic to detect the siren sound and change traffic light states accordingly. This required designing a </a:t>
            </a:r>
            <a:r>
              <a:rPr lang="en-US" sz="2000" b="1" dirty="0">
                <a:effectLst/>
                <a:latin typeface="Times New Roman" panose="02020603050405020304" pitchFamily="18" charset="0"/>
                <a:ea typeface="Times New Roman" panose="02020603050405020304" pitchFamily="18" charset="0"/>
              </a:rPr>
              <a:t>decision-making structure</a:t>
            </a:r>
            <a:r>
              <a:rPr lang="en-US" sz="2000" dirty="0">
                <a:effectLst/>
                <a:latin typeface="Times New Roman" panose="02020603050405020304" pitchFamily="18" charset="0"/>
                <a:ea typeface="Times New Roman" panose="02020603050405020304" pitchFamily="18" charset="0"/>
              </a:rPr>
              <a:t> where the Arduino checks for the siren detection and switches between traffic light states (e.g., green to red) based on the detection.</a:t>
            </a:r>
          </a:p>
          <a:p>
            <a:pPr marL="0" indent="0">
              <a:spcBef>
                <a:spcPts val="0"/>
              </a:spcBef>
              <a:buSzPts val="2800"/>
              <a:buNone/>
            </a:pPr>
            <a:endParaRPr lang="en-US" sz="2000" dirty="0">
              <a:effectLst/>
              <a:latin typeface="Times New Roman" panose="02020603050405020304" pitchFamily="18" charset="0"/>
              <a:ea typeface="Times New Roman" panose="02020603050405020304" pitchFamily="18" charset="0"/>
            </a:endParaRPr>
          </a:p>
          <a:p>
            <a:pPr marL="0" indent="0">
              <a:spcBef>
                <a:spcPts val="0"/>
              </a:spcBef>
              <a:buSzPts val="2800"/>
              <a:buNone/>
            </a:pPr>
            <a:r>
              <a:rPr lang="en-US" sz="2000" b="1" dirty="0">
                <a:effectLst/>
                <a:latin typeface="Times New Roman" panose="02020603050405020304" pitchFamily="18" charset="0"/>
                <a:ea typeface="Times New Roman" panose="02020603050405020304" pitchFamily="18" charset="0"/>
              </a:rPr>
              <a:t> Signal Processing</a:t>
            </a:r>
            <a:r>
              <a:rPr lang="en-US" sz="2000" dirty="0">
                <a:effectLst/>
                <a:latin typeface="Times New Roman" panose="02020603050405020304" pitchFamily="18" charset="0"/>
                <a:ea typeface="Times New Roman" panose="02020603050405020304" pitchFamily="18" charset="0"/>
              </a:rPr>
              <a:t>: The system involved an interface between hardware (sound sensor) and software (Arduino code). It helped understand how sensors provide </a:t>
            </a:r>
            <a:r>
              <a:rPr lang="en-US" sz="2000" b="1" dirty="0">
                <a:effectLst/>
                <a:latin typeface="Times New Roman" panose="02020603050405020304" pitchFamily="18" charset="0"/>
                <a:ea typeface="Times New Roman" panose="02020603050405020304" pitchFamily="18" charset="0"/>
              </a:rPr>
              <a:t>analog signals</a:t>
            </a:r>
            <a:r>
              <a:rPr lang="en-US" sz="2000" dirty="0">
                <a:effectLst/>
                <a:latin typeface="Times New Roman" panose="02020603050405020304" pitchFamily="18" charset="0"/>
                <a:ea typeface="Times New Roman" panose="02020603050405020304" pitchFamily="18" charset="0"/>
              </a:rPr>
              <a:t>, which are then converted into </a:t>
            </a:r>
            <a:r>
              <a:rPr lang="en-US" sz="2000" b="1" dirty="0">
                <a:effectLst/>
                <a:latin typeface="Times New Roman" panose="02020603050405020304" pitchFamily="18" charset="0"/>
                <a:ea typeface="Times New Roman" panose="02020603050405020304" pitchFamily="18" charset="0"/>
              </a:rPr>
              <a:t>digital data</a:t>
            </a:r>
            <a:r>
              <a:rPr lang="en-US" sz="2000" dirty="0">
                <a:effectLst/>
                <a:latin typeface="Times New Roman" panose="02020603050405020304" pitchFamily="18" charset="0"/>
                <a:ea typeface="Times New Roman" panose="02020603050405020304" pitchFamily="18" charset="0"/>
              </a:rPr>
              <a:t> that the microcontroller can process to trigger actions like controlling relays.</a:t>
            </a:r>
          </a:p>
          <a:p>
            <a:pPr marL="0" indent="0">
              <a:spcBef>
                <a:spcPts val="0"/>
              </a:spcBef>
              <a:buSzPts val="2800"/>
              <a:buNone/>
            </a:pPr>
            <a:endParaRPr lang="en-US" sz="2000" dirty="0">
              <a:effectLst/>
              <a:latin typeface="Times New Roman" panose="02020603050405020304" pitchFamily="18" charset="0"/>
              <a:ea typeface="Times New Roman" panose="02020603050405020304" pitchFamily="18" charset="0"/>
            </a:endParaRPr>
          </a:p>
          <a:p>
            <a:pPr marL="0" indent="0">
              <a:spcBef>
                <a:spcPts val="0"/>
              </a:spcBef>
              <a:buSzPts val="2800"/>
              <a:buNone/>
            </a:pPr>
            <a:r>
              <a:rPr lang="en-US" sz="2000" b="1" dirty="0">
                <a:effectLst/>
                <a:latin typeface="Times New Roman" panose="02020603050405020304" pitchFamily="18" charset="0"/>
                <a:ea typeface="Times New Roman" panose="02020603050405020304" pitchFamily="18" charset="0"/>
              </a:rPr>
              <a:t> System Architecture Design</a:t>
            </a:r>
            <a:r>
              <a:rPr lang="en-US" sz="2000" dirty="0">
                <a:effectLst/>
                <a:latin typeface="Times New Roman" panose="02020603050405020304" pitchFamily="18" charset="0"/>
                <a:ea typeface="Times New Roman" panose="02020603050405020304" pitchFamily="18" charset="0"/>
              </a:rPr>
              <a:t>: The project required thinking about the </a:t>
            </a:r>
            <a:r>
              <a:rPr lang="en-US" sz="2000" b="1" dirty="0">
                <a:effectLst/>
                <a:latin typeface="Times New Roman" panose="02020603050405020304" pitchFamily="18" charset="0"/>
                <a:ea typeface="Times New Roman" panose="02020603050405020304" pitchFamily="18" charset="0"/>
              </a:rPr>
              <a:t>network architecture</a:t>
            </a:r>
            <a:r>
              <a:rPr lang="en-US" sz="2000" dirty="0">
                <a:effectLst/>
                <a:latin typeface="Times New Roman" panose="02020603050405020304" pitchFamily="18" charset="0"/>
                <a:ea typeface="Times New Roman" panose="02020603050405020304" pitchFamily="18" charset="0"/>
              </a:rPr>
              <a:t> of how the sound sensor communicates with the Arduino and how the Arduino controls the relays. This required a basic understanding of </a:t>
            </a:r>
            <a:r>
              <a:rPr lang="en-US" sz="2000" b="1" dirty="0">
                <a:effectLst/>
                <a:latin typeface="Times New Roman" panose="02020603050405020304" pitchFamily="18" charset="0"/>
                <a:ea typeface="Times New Roman" panose="02020603050405020304" pitchFamily="18" charset="0"/>
              </a:rPr>
              <a:t>signal propagation</a:t>
            </a:r>
            <a:r>
              <a:rPr lang="en-US" sz="2000" dirty="0">
                <a:effectLst/>
                <a:latin typeface="Times New Roman" panose="02020603050405020304" pitchFamily="18" charset="0"/>
                <a:ea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rPr>
              <a:t>feedback loops</a:t>
            </a:r>
            <a:r>
              <a:rPr lang="en-US" sz="2000" dirty="0">
                <a:effectLst/>
                <a:latin typeface="Times New Roman" panose="02020603050405020304" pitchFamily="18" charset="0"/>
                <a:ea typeface="Times New Roman" panose="02020603050405020304" pitchFamily="18" charset="0"/>
              </a:rPr>
              <a:t>, and the impact of adding components in a </a:t>
            </a:r>
            <a:r>
              <a:rPr lang="en-US" sz="2000" b="1" dirty="0">
                <a:effectLst/>
                <a:latin typeface="Times New Roman" panose="02020603050405020304" pitchFamily="18" charset="0"/>
                <a:ea typeface="Times New Roman" panose="02020603050405020304" pitchFamily="18" charset="0"/>
              </a:rPr>
              <a:t>distributed system</a:t>
            </a:r>
            <a:r>
              <a:rPr lang="en-US" sz="2000" dirty="0">
                <a:effectLst/>
                <a:latin typeface="Times New Roman" panose="02020603050405020304" pitchFamily="18" charset="0"/>
                <a:ea typeface="Times New Roman" panose="02020603050405020304" pitchFamily="18" charset="0"/>
              </a:rPr>
              <a:t>.</a:t>
            </a:r>
          </a:p>
          <a:p>
            <a:pPr marL="0" indent="0">
              <a:spcBef>
                <a:spcPts val="0"/>
              </a:spcBef>
              <a:buSzPts val="2800"/>
              <a:buNone/>
            </a:pPr>
            <a:endParaRPr lang="en-US" sz="2000" dirty="0"/>
          </a:p>
        </p:txBody>
      </p:sp>
      <p:sp>
        <p:nvSpPr>
          <p:cNvPr id="147" name="Google Shape;14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Title of the project</a:t>
            </a:r>
            <a:endParaRPr/>
          </a:p>
        </p:txBody>
      </p:sp>
      <p:sp>
        <p:nvSpPr>
          <p:cNvPr id="148" name="Google Shape;14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117259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DEEFCB52-13F9-BE0D-704F-B0AFA2DEB88F}"/>
            </a:ext>
          </a:extLst>
        </p:cNvPr>
        <p:cNvGrpSpPr/>
        <p:nvPr/>
      </p:nvGrpSpPr>
      <p:grpSpPr>
        <a:xfrm>
          <a:off x="0" y="0"/>
          <a:ext cx="0" cy="0"/>
          <a:chOff x="0" y="0"/>
          <a:chExt cx="0" cy="0"/>
        </a:xfrm>
      </p:grpSpPr>
      <p:sp>
        <p:nvSpPr>
          <p:cNvPr id="145" name="Google Shape;145;p8">
            <a:extLst>
              <a:ext uri="{FF2B5EF4-FFF2-40B4-BE49-F238E27FC236}">
                <a16:creationId xmlns:a16="http://schemas.microsoft.com/office/drawing/2014/main" id="{F2936BFD-C4D7-6233-9E34-E2ACD623A1BB}"/>
              </a:ext>
            </a:extLst>
          </p:cNvPr>
          <p:cNvSpPr txBox="1">
            <a:spLocks noGrp="1"/>
          </p:cNvSpPr>
          <p:nvPr>
            <p:ph type="title"/>
          </p:nvPr>
        </p:nvSpPr>
        <p:spPr>
          <a:xfrm>
            <a:off x="602226" y="20796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Learning Outcomes</a:t>
            </a:r>
            <a:endParaRPr dirty="0"/>
          </a:p>
        </p:txBody>
      </p:sp>
      <p:sp>
        <p:nvSpPr>
          <p:cNvPr id="146" name="Google Shape;146;p8">
            <a:extLst>
              <a:ext uri="{FF2B5EF4-FFF2-40B4-BE49-F238E27FC236}">
                <a16:creationId xmlns:a16="http://schemas.microsoft.com/office/drawing/2014/main" id="{B3540D07-C6F0-EF56-7401-912C5EFDB665}"/>
              </a:ext>
            </a:extLst>
          </p:cNvPr>
          <p:cNvSpPr txBox="1">
            <a:spLocks noGrp="1"/>
          </p:cNvSpPr>
          <p:nvPr>
            <p:ph type="body" idx="1"/>
          </p:nvPr>
        </p:nvSpPr>
        <p:spPr>
          <a:xfrm>
            <a:off x="602226" y="1690688"/>
            <a:ext cx="10515600" cy="4351338"/>
          </a:xfrm>
          <a:prstGeom prst="rect">
            <a:avLst/>
          </a:prstGeom>
          <a:noFill/>
          <a:ln>
            <a:noFill/>
          </a:ln>
        </p:spPr>
        <p:txBody>
          <a:bodyPr spcFirstLastPara="1" wrap="square" lIns="91425" tIns="45700" rIns="91425" bIns="45700" anchor="t" anchorCtr="0">
            <a:normAutofit/>
          </a:bodyPr>
          <a:lstStyle/>
          <a:p>
            <a:pPr marL="0" indent="0">
              <a:spcBef>
                <a:spcPts val="0"/>
              </a:spcBef>
              <a:buSzPts val="2800"/>
              <a:buNone/>
            </a:pPr>
            <a:r>
              <a:rPr lang="en-IN" sz="1800" b="1" dirty="0">
                <a:effectLst/>
                <a:latin typeface="Times New Roman" panose="02020603050405020304" pitchFamily="18" charset="0"/>
                <a:ea typeface="Times New Roman" panose="02020603050405020304" pitchFamily="18" charset="0"/>
              </a:rPr>
              <a:t> </a:t>
            </a:r>
            <a:endParaRPr dirty="0"/>
          </a:p>
        </p:txBody>
      </p:sp>
      <p:sp>
        <p:nvSpPr>
          <p:cNvPr id="147" name="Google Shape;147;p8">
            <a:extLst>
              <a:ext uri="{FF2B5EF4-FFF2-40B4-BE49-F238E27FC236}">
                <a16:creationId xmlns:a16="http://schemas.microsoft.com/office/drawing/2014/main" id="{697BB4D0-AEDC-AEF6-3211-ADD5302CA6C2}"/>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Title of the project</a:t>
            </a:r>
            <a:endParaRPr/>
          </a:p>
        </p:txBody>
      </p:sp>
      <p:sp>
        <p:nvSpPr>
          <p:cNvPr id="148" name="Google Shape;148;p8">
            <a:extLst>
              <a:ext uri="{FF2B5EF4-FFF2-40B4-BE49-F238E27FC236}">
                <a16:creationId xmlns:a16="http://schemas.microsoft.com/office/drawing/2014/main" id="{D207DF3F-DDD9-36A4-C727-04A91155E0A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2" name="Google Shape;146;p8">
            <a:extLst>
              <a:ext uri="{FF2B5EF4-FFF2-40B4-BE49-F238E27FC236}">
                <a16:creationId xmlns:a16="http://schemas.microsoft.com/office/drawing/2014/main" id="{54C337E5-D2BC-6E7B-0BC9-F8ADA3F01D17}"/>
              </a:ext>
            </a:extLst>
          </p:cNvPr>
          <p:cNvSpPr txBox="1">
            <a:spLocks/>
          </p:cNvSpPr>
          <p:nvPr/>
        </p:nvSpPr>
        <p:spPr>
          <a:xfrm>
            <a:off x="602226" y="1519832"/>
            <a:ext cx="10515600" cy="435133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SzPts val="2800"/>
              <a:buNone/>
            </a:pPr>
            <a:r>
              <a:rPr lang="en-US" sz="2000" b="1" dirty="0">
                <a:latin typeface="Times New Roman" panose="02020603050405020304" pitchFamily="18" charset="0"/>
                <a:ea typeface="Times New Roman" panose="02020603050405020304" pitchFamily="18" charset="0"/>
              </a:rPr>
              <a:t> </a:t>
            </a:r>
            <a:r>
              <a:rPr lang="en-IN" sz="2000" b="1" dirty="0">
                <a:effectLst/>
                <a:latin typeface="Times New Roman" panose="02020603050405020304" pitchFamily="18" charset="0"/>
                <a:ea typeface="Times New Roman" panose="02020603050405020304" pitchFamily="18" charset="0"/>
              </a:rPr>
              <a:t> Synchronous Operation of Multiple Components</a:t>
            </a:r>
            <a:r>
              <a:rPr lang="en-IN" sz="2000" dirty="0">
                <a:effectLst/>
                <a:latin typeface="Times New Roman" panose="02020603050405020304" pitchFamily="18" charset="0"/>
                <a:ea typeface="Times New Roman" panose="02020603050405020304" pitchFamily="18" charset="0"/>
              </a:rPr>
              <a:t>: While this specific project did not implement large-scale networking, it required a synchronization of real-time actions, such as sensor reading, decision-making, and actuator control.</a:t>
            </a:r>
          </a:p>
          <a:p>
            <a:pPr marL="0" indent="0">
              <a:spcBef>
                <a:spcPts val="0"/>
              </a:spcBef>
              <a:buSzPts val="2800"/>
              <a:buNone/>
            </a:pPr>
            <a:endParaRPr lang="en-IN" sz="2000" b="1" dirty="0">
              <a:latin typeface="Times New Roman" panose="02020603050405020304" pitchFamily="18" charset="0"/>
              <a:ea typeface="Times New Roman" panose="02020603050405020304" pitchFamily="18" charset="0"/>
            </a:endParaRPr>
          </a:p>
          <a:p>
            <a:pPr marL="0" indent="0">
              <a:spcBef>
                <a:spcPts val="0"/>
              </a:spcBef>
              <a:buSzPts val="2800"/>
              <a:buNone/>
            </a:pPr>
            <a:r>
              <a:rPr lang="en-IN" sz="2000" b="1" dirty="0">
                <a:effectLst/>
                <a:latin typeface="Times New Roman" panose="02020603050405020304" pitchFamily="18" charset="0"/>
                <a:ea typeface="Times New Roman" panose="02020603050405020304" pitchFamily="18" charset="0"/>
              </a:rPr>
              <a:t> Scalability of the System</a:t>
            </a:r>
            <a:r>
              <a:rPr lang="en-IN" sz="2000" dirty="0">
                <a:effectLst/>
                <a:latin typeface="Times New Roman" panose="02020603050405020304" pitchFamily="18" charset="0"/>
                <a:ea typeface="Times New Roman" panose="02020603050405020304" pitchFamily="18" charset="0"/>
              </a:rPr>
              <a:t>: The project gave insights into how the system could be expanded by adding </a:t>
            </a:r>
            <a:r>
              <a:rPr lang="en-IN" sz="2000" b="1" dirty="0">
                <a:effectLst/>
                <a:latin typeface="Times New Roman" panose="02020603050405020304" pitchFamily="18" charset="0"/>
                <a:ea typeface="Times New Roman" panose="02020603050405020304" pitchFamily="18" charset="0"/>
              </a:rPr>
              <a:t>multiple sensors</a:t>
            </a:r>
            <a:r>
              <a:rPr lang="en-IN" sz="2000" dirty="0">
                <a:effectLst/>
                <a:latin typeface="Times New Roman" panose="02020603050405020304" pitchFamily="18" charset="0"/>
                <a:ea typeface="Times New Roman" panose="02020603050405020304" pitchFamily="18" charset="0"/>
              </a:rPr>
              <a:t> across larger intersections or multiple locations, creating a </a:t>
            </a:r>
            <a:r>
              <a:rPr lang="en-IN" sz="2000" b="1" dirty="0">
                <a:effectLst/>
                <a:latin typeface="Times New Roman" panose="02020603050405020304" pitchFamily="18" charset="0"/>
                <a:ea typeface="Times New Roman" panose="02020603050405020304" pitchFamily="18" charset="0"/>
              </a:rPr>
              <a:t>network of connected sensors</a:t>
            </a:r>
            <a:r>
              <a:rPr lang="en-IN" sz="2000" dirty="0">
                <a:effectLst/>
                <a:latin typeface="Times New Roman" panose="02020603050405020304" pitchFamily="18" charset="0"/>
                <a:ea typeface="Times New Roman" panose="02020603050405020304" pitchFamily="18" charset="0"/>
              </a:rPr>
              <a:t>. </a:t>
            </a:r>
          </a:p>
          <a:p>
            <a:pPr marL="0" indent="0">
              <a:spcBef>
                <a:spcPts val="0"/>
              </a:spcBef>
              <a:buSzPts val="2800"/>
              <a:buNone/>
            </a:pPr>
            <a:endParaRPr lang="en-IN" sz="2000" dirty="0">
              <a:effectLst/>
              <a:latin typeface="Times New Roman" panose="02020603050405020304" pitchFamily="18" charset="0"/>
              <a:ea typeface="Times New Roman" panose="02020603050405020304" pitchFamily="18" charset="0"/>
            </a:endParaRPr>
          </a:p>
          <a:p>
            <a:pPr marL="0" indent="0">
              <a:spcBef>
                <a:spcPts val="0"/>
              </a:spcBef>
              <a:buSzPts val="2800"/>
              <a:buFont typeface="Arial"/>
              <a:buNone/>
            </a:pPr>
            <a:r>
              <a:rPr lang="en-IN" sz="2000" b="1" dirty="0">
                <a:effectLst/>
                <a:latin typeface="Times New Roman" panose="02020603050405020304" pitchFamily="18" charset="0"/>
                <a:ea typeface="Times New Roman" panose="02020603050405020304" pitchFamily="18" charset="0"/>
              </a:rPr>
              <a:t> Understanding Sensor Response</a:t>
            </a:r>
            <a:r>
              <a:rPr lang="en-IN" sz="2000" dirty="0">
                <a:effectLst/>
                <a:latin typeface="Times New Roman" panose="02020603050405020304" pitchFamily="18" charset="0"/>
                <a:ea typeface="Times New Roman" panose="02020603050405020304" pitchFamily="18" charset="0"/>
              </a:rPr>
              <a:t>: The sound sensor used in this project responded to varying sound intensities by providing an analog output. By experimenting with different sounds (like sirens and background noise), it was important to learn how sensors behave in analog circuits and how </a:t>
            </a:r>
            <a:r>
              <a:rPr lang="en-IN" sz="2000" b="1" dirty="0">
                <a:effectLst/>
                <a:latin typeface="Times New Roman" panose="02020603050405020304" pitchFamily="18" charset="0"/>
                <a:ea typeface="Times New Roman" panose="02020603050405020304" pitchFamily="18" charset="0"/>
              </a:rPr>
              <a:t>voltage levels</a:t>
            </a:r>
            <a:r>
              <a:rPr lang="en-IN" sz="2000" dirty="0">
                <a:effectLst/>
                <a:latin typeface="Times New Roman" panose="02020603050405020304" pitchFamily="18" charset="0"/>
                <a:ea typeface="Times New Roman" panose="02020603050405020304" pitchFamily="18" charset="0"/>
              </a:rPr>
              <a:t> correlate with real-world phenomena like sound intensity.</a:t>
            </a:r>
          </a:p>
          <a:p>
            <a:pPr marL="0" indent="0">
              <a:spcBef>
                <a:spcPts val="0"/>
              </a:spcBef>
              <a:buSzPts val="2800"/>
              <a:buFont typeface="Arial"/>
              <a:buNone/>
            </a:pPr>
            <a:endParaRPr lang="en-IN" sz="2000" dirty="0">
              <a:effectLst/>
              <a:latin typeface="Times New Roman" panose="02020603050405020304" pitchFamily="18" charset="0"/>
              <a:ea typeface="Times New Roman" panose="02020603050405020304" pitchFamily="18" charset="0"/>
            </a:endParaRPr>
          </a:p>
          <a:p>
            <a:pPr marL="0" indent="0">
              <a:spcBef>
                <a:spcPts val="0"/>
              </a:spcBef>
              <a:buSzPts val="2800"/>
              <a:buNone/>
            </a:pPr>
            <a:r>
              <a:rPr lang="en-IN" sz="2000" b="1" dirty="0">
                <a:effectLst/>
                <a:latin typeface="Times New Roman" panose="02020603050405020304" pitchFamily="18" charset="0"/>
                <a:ea typeface="Times New Roman" panose="02020603050405020304" pitchFamily="18" charset="0"/>
              </a:rPr>
              <a:t> Noise Filtering and Signal Conditioning</a:t>
            </a:r>
            <a:r>
              <a:rPr lang="en-IN" sz="2000" dirty="0">
                <a:effectLst/>
                <a:latin typeface="Times New Roman" panose="02020603050405020304" pitchFamily="18" charset="0"/>
                <a:ea typeface="Times New Roman" panose="02020603050405020304" pitchFamily="18" charset="0"/>
              </a:rPr>
              <a:t>: The project highlighted the importance of </a:t>
            </a:r>
            <a:r>
              <a:rPr lang="en-IN" sz="2000" b="1" dirty="0">
                <a:effectLst/>
                <a:latin typeface="Times New Roman" panose="02020603050405020304" pitchFamily="18" charset="0"/>
                <a:ea typeface="Times New Roman" panose="02020603050405020304" pitchFamily="18" charset="0"/>
              </a:rPr>
              <a:t>signal conditioning</a:t>
            </a:r>
            <a:r>
              <a:rPr lang="en-IN" sz="2000" dirty="0">
                <a:effectLst/>
                <a:latin typeface="Times New Roman" panose="02020603050405020304" pitchFamily="18" charset="0"/>
                <a:ea typeface="Times New Roman" panose="02020603050405020304" pitchFamily="18" charset="0"/>
              </a:rPr>
              <a:t> to improve sensor accuracy. For example, ensuring the sound sensor’s analog output is processed cleanly without distortion by ambient noise was a key learning aspect. </a:t>
            </a:r>
            <a:endParaRPr lang="en-US" sz="2000" dirty="0"/>
          </a:p>
        </p:txBody>
      </p:sp>
    </p:spTree>
    <p:extLst>
      <p:ext uri="{BB962C8B-B14F-4D97-AF65-F5344CB8AC3E}">
        <p14:creationId xmlns:p14="http://schemas.microsoft.com/office/powerpoint/2010/main" val="3369819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GB" dirty="0"/>
              <a:t>References</a:t>
            </a:r>
            <a:endParaRPr dirty="0"/>
          </a:p>
        </p:txBody>
      </p:sp>
      <p:sp>
        <p:nvSpPr>
          <p:cNvPr id="154" name="Google Shape;154;p9"/>
          <p:cNvSpPr txBox="1">
            <a:spLocks noGrp="1"/>
          </p:cNvSpPr>
          <p:nvPr>
            <p:ph type="body" idx="1"/>
          </p:nvPr>
        </p:nvSpPr>
        <p:spPr>
          <a:xfrm>
            <a:off x="422032" y="1205802"/>
            <a:ext cx="11310622" cy="4813999"/>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400"/>
              <a:buNone/>
            </a:pPr>
            <a:endParaRPr lang="en-US" sz="2000" dirty="0">
              <a:effectLst/>
              <a:latin typeface="Times New Roman" panose="02020603050405020304" pitchFamily="18" charset="0"/>
              <a:ea typeface="Times New Roman" panose="02020603050405020304" pitchFamily="18" charset="0"/>
            </a:endParaRPr>
          </a:p>
          <a:p>
            <a:pPr marL="342900" marR="0" lvl="0" indent="-342900" algn="just">
              <a:buFont typeface="Symbol" panose="05050102010706020507" pitchFamily="18" charset="2"/>
              <a:buChar char=""/>
            </a:pPr>
            <a:r>
              <a:rPr lang="en-IN" sz="2000" dirty="0">
                <a:effectLst/>
                <a:latin typeface="Times New Roman" panose="02020603050405020304" pitchFamily="18" charset="0"/>
                <a:ea typeface="Times New Roman" panose="02020603050405020304" pitchFamily="18" charset="0"/>
              </a:rPr>
              <a:t>Linna Wu, Huan Li, Feng Ren, </a:t>
            </a:r>
            <a:r>
              <a:rPr lang="en-IN" sz="2000" dirty="0" err="1">
                <a:effectLst/>
                <a:latin typeface="Times New Roman" panose="02020603050405020304" pitchFamily="18" charset="0"/>
                <a:ea typeface="Times New Roman" panose="02020603050405020304" pitchFamily="18" charset="0"/>
              </a:rPr>
              <a:t>Lizhuo</a:t>
            </a:r>
            <a:r>
              <a:rPr lang="en-IN" sz="2000" dirty="0">
                <a:effectLst/>
                <a:latin typeface="Times New Roman" panose="02020603050405020304" pitchFamily="18" charset="0"/>
                <a:ea typeface="Times New Roman" panose="02020603050405020304" pitchFamily="18" charset="0"/>
              </a:rPr>
              <a:t> Zhang, IoT-enabled traffic analysis, Proceedings of International Conference on Internet of Things Design and Implementation ACM, April 2019.</a:t>
            </a:r>
            <a:endParaRPr lang="en-US" sz="2000" dirty="0">
              <a:effectLst/>
              <a:latin typeface="Times New Roman" panose="02020603050405020304" pitchFamily="18" charset="0"/>
              <a:ea typeface="Times New Roman" panose="02020603050405020304" pitchFamily="18" charset="0"/>
            </a:endParaRPr>
          </a:p>
          <a:p>
            <a:pPr marL="342900" marR="0" lvl="0" indent="-342900" algn="just">
              <a:buFont typeface="Symbol" panose="05050102010706020507" pitchFamily="18" charset="2"/>
              <a:buChar char=""/>
            </a:pPr>
            <a:r>
              <a:rPr lang="en-IN" sz="2000" dirty="0" err="1">
                <a:effectLst/>
                <a:latin typeface="Times New Roman" panose="02020603050405020304" pitchFamily="18" charset="0"/>
                <a:ea typeface="Times New Roman" panose="02020603050405020304" pitchFamily="18" charset="0"/>
              </a:rPr>
              <a:t>Gulnur</a:t>
            </a:r>
            <a:r>
              <a:rPr lang="en-IN" sz="2000" dirty="0">
                <a:effectLst/>
                <a:latin typeface="Times New Roman" panose="02020603050405020304" pitchFamily="18" charset="0"/>
                <a:ea typeface="Times New Roman" panose="02020603050405020304" pitchFamily="18" charset="0"/>
              </a:rPr>
              <a:t> </a:t>
            </a:r>
            <a:r>
              <a:rPr lang="en-IN" sz="2000" dirty="0" err="1">
                <a:effectLst/>
                <a:latin typeface="Times New Roman" panose="02020603050405020304" pitchFamily="18" charset="0"/>
                <a:ea typeface="Times New Roman" panose="02020603050405020304" pitchFamily="18" charset="0"/>
              </a:rPr>
              <a:t>Tolebi</a:t>
            </a:r>
            <a:r>
              <a:rPr lang="en-IN" sz="2000" dirty="0">
                <a:effectLst/>
                <a:latin typeface="Times New Roman" panose="02020603050405020304" pitchFamily="18" charset="0"/>
                <a:ea typeface="Times New Roman" panose="02020603050405020304" pitchFamily="18" charset="0"/>
              </a:rPr>
              <a:t>, Daniyar </a:t>
            </a:r>
            <a:r>
              <a:rPr lang="en-IN" sz="2000" dirty="0" err="1">
                <a:effectLst/>
                <a:latin typeface="Times New Roman" panose="02020603050405020304" pitchFamily="18" charset="0"/>
                <a:ea typeface="Times New Roman" panose="02020603050405020304" pitchFamily="18" charset="0"/>
              </a:rPr>
              <a:t>KurmanKhojayev</a:t>
            </a:r>
            <a:r>
              <a:rPr lang="en-IN" sz="2000" dirty="0">
                <a:effectLst/>
                <a:latin typeface="Times New Roman" panose="02020603050405020304" pitchFamily="18" charset="0"/>
                <a:ea typeface="Times New Roman" panose="02020603050405020304" pitchFamily="18" charset="0"/>
              </a:rPr>
              <a:t>, </a:t>
            </a:r>
            <a:r>
              <a:rPr lang="en-IN" sz="2000" dirty="0" err="1">
                <a:effectLst/>
                <a:latin typeface="Times New Roman" panose="02020603050405020304" pitchFamily="18" charset="0"/>
                <a:ea typeface="Times New Roman" panose="02020603050405020304" pitchFamily="18" charset="0"/>
              </a:rPr>
              <a:t>Nurlan</a:t>
            </a:r>
            <a:r>
              <a:rPr lang="en-IN" sz="2000" dirty="0">
                <a:effectLst/>
                <a:latin typeface="Times New Roman" panose="02020603050405020304" pitchFamily="18" charset="0"/>
                <a:ea typeface="Times New Roman" panose="02020603050405020304" pitchFamily="18" charset="0"/>
              </a:rPr>
              <a:t> </a:t>
            </a:r>
            <a:r>
              <a:rPr lang="en-IN" sz="2000" dirty="0" err="1">
                <a:effectLst/>
                <a:latin typeface="Times New Roman" panose="02020603050405020304" pitchFamily="18" charset="0"/>
                <a:ea typeface="Times New Roman" panose="02020603050405020304" pitchFamily="18" charset="0"/>
              </a:rPr>
              <a:t>S.Dairbekov</a:t>
            </a:r>
            <a:r>
              <a:rPr lang="en-IN" sz="2000" dirty="0">
                <a:effectLst/>
                <a:latin typeface="Times New Roman" panose="02020603050405020304" pitchFamily="18" charset="0"/>
                <a:ea typeface="Times New Roman" panose="02020603050405020304" pitchFamily="18" charset="0"/>
              </a:rPr>
              <a:t>, Proceedings of 5th International Conference on Engineering and MIS, Road traffic demand estimation and traffic signal control, ACM, June 2019.</a:t>
            </a:r>
            <a:endParaRPr lang="en-US" sz="2000" dirty="0">
              <a:effectLst/>
              <a:latin typeface="Times New Roman" panose="02020603050405020304" pitchFamily="18" charset="0"/>
              <a:ea typeface="Times New Roman" panose="02020603050405020304" pitchFamily="18" charset="0"/>
            </a:endParaRPr>
          </a:p>
          <a:p>
            <a:pPr marL="342900" marR="0" lvl="0" indent="-342900" algn="just">
              <a:buFont typeface="Symbol" panose="05050102010706020507" pitchFamily="18" charset="2"/>
              <a:buChar char=""/>
            </a:pPr>
            <a:r>
              <a:rPr lang="en-IN" sz="2000" dirty="0">
                <a:effectLst/>
                <a:latin typeface="Times New Roman" panose="02020603050405020304" pitchFamily="18" charset="0"/>
                <a:ea typeface="Times New Roman" panose="02020603050405020304" pitchFamily="18" charset="0"/>
              </a:rPr>
              <a:t>Arduino(2019)</a:t>
            </a:r>
            <a:r>
              <a:rPr lang="en-IN" sz="2000" dirty="0" err="1">
                <a:effectLst/>
                <a:latin typeface="Times New Roman" panose="02020603050405020304" pitchFamily="18" charset="0"/>
                <a:ea typeface="Times New Roman" panose="02020603050405020304" pitchFamily="18" charset="0"/>
              </a:rPr>
              <a:t>millis</a:t>
            </a:r>
            <a:r>
              <a:rPr lang="en-IN" sz="2000" dirty="0">
                <a:effectLst/>
                <a:latin typeface="Times New Roman" panose="02020603050405020304" pitchFamily="18" charset="0"/>
                <a:ea typeface="Times New Roman" panose="02020603050405020304" pitchFamily="18" charset="0"/>
              </a:rPr>
              <a:t>().https://www.arduino.cc/reference/en/language/functions/time/millis/. Accessed 5 June 2019</a:t>
            </a:r>
            <a:endParaRPr lang="en-US" sz="2000" dirty="0">
              <a:effectLst/>
              <a:latin typeface="Times New Roman" panose="02020603050405020304" pitchFamily="18" charset="0"/>
              <a:ea typeface="Times New Roman" panose="02020603050405020304" pitchFamily="18" charset="0"/>
            </a:endParaRPr>
          </a:p>
          <a:p>
            <a:pPr marL="342900" marR="0" lvl="0" indent="-342900" algn="just">
              <a:buFont typeface="Symbol" panose="05050102010706020507" pitchFamily="18" charset="2"/>
              <a:buChar char=""/>
            </a:pPr>
            <a:r>
              <a:rPr lang="en-IN" sz="2000" dirty="0" err="1">
                <a:effectLst/>
                <a:latin typeface="Times New Roman" panose="02020603050405020304" pitchFamily="18" charset="0"/>
                <a:ea typeface="Times New Roman" panose="02020603050405020304" pitchFamily="18" charset="0"/>
              </a:rPr>
              <a:t>ShivaPrasad</a:t>
            </a:r>
            <a:r>
              <a:rPr lang="en-IN" sz="2000" dirty="0">
                <a:effectLst/>
                <a:latin typeface="Times New Roman" panose="02020603050405020304" pitchFamily="18" charset="0"/>
                <a:ea typeface="Times New Roman" panose="02020603050405020304" pitchFamily="18" charset="0"/>
              </a:rPr>
              <a:t> K S, Shruthi S, Chandana R Nayaka, Arun Y K. “Advanced Traffic Control System for Emergency Vehicle”. International Journal of Engineering Research &amp; Technology (IJERT) ISSN: 2278-0181 Published by, www.ijert.org NCESC - 2018 Conference Proceedings.</a:t>
            </a:r>
            <a:endParaRPr lang="en-US" sz="2000" dirty="0">
              <a:effectLst/>
              <a:latin typeface="Times New Roman" panose="02020603050405020304" pitchFamily="18" charset="0"/>
              <a:ea typeface="Times New Roman" panose="02020603050405020304" pitchFamily="18" charset="0"/>
            </a:endParaRPr>
          </a:p>
          <a:p>
            <a:pPr marL="228600" marR="0" algn="just"/>
            <a:endParaRPr lang="en-US" sz="2000" dirty="0">
              <a:effectLst/>
              <a:latin typeface="Times New Roman" panose="02020603050405020304" pitchFamily="18" charset="0"/>
              <a:ea typeface="Times New Roman" panose="02020603050405020304" pitchFamily="18" charset="0"/>
            </a:endParaRPr>
          </a:p>
          <a:p>
            <a:pPr marL="0" marR="0" indent="0" algn="just">
              <a:buNone/>
            </a:pPr>
            <a:r>
              <a:rPr lang="en-IN" sz="2000" dirty="0">
                <a:effectLst/>
                <a:latin typeface="Times New Roman" panose="02020603050405020304" pitchFamily="18" charset="0"/>
                <a:ea typeface="Times New Roman" panose="02020603050405020304" pitchFamily="18" charset="0"/>
              </a:rPr>
              <a:t> </a:t>
            </a:r>
            <a:endParaRPr sz="2000" dirty="0"/>
          </a:p>
        </p:txBody>
      </p:sp>
      <p:sp>
        <p:nvSpPr>
          <p:cNvPr id="155" name="Google Shape;15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Title of the project</a:t>
            </a:r>
            <a:endParaRPr/>
          </a:p>
        </p:txBody>
      </p:sp>
      <p:sp>
        <p:nvSpPr>
          <p:cNvPr id="156" name="Google Shape;15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0"/>
          <p:cNvSpPr txBox="1">
            <a:spLocks noGrp="1"/>
          </p:cNvSpPr>
          <p:nvPr>
            <p:ph type="title"/>
          </p:nvPr>
        </p:nvSpPr>
        <p:spPr>
          <a:xfrm>
            <a:off x="799563" y="2219683"/>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b="1">
                <a:solidFill>
                  <a:srgbClr val="FF0000"/>
                </a:solidFill>
              </a:rPr>
              <a:t>THANK YOU</a:t>
            </a:r>
            <a:endParaRPr b="1">
              <a:solidFill>
                <a:srgbClr val="FF0000"/>
              </a:solidFill>
            </a:endParaRPr>
          </a:p>
        </p:txBody>
      </p:sp>
      <p:sp>
        <p:nvSpPr>
          <p:cNvPr id="162" name="Google Shape;16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Title of the project</a:t>
            </a:r>
            <a:endParaRPr/>
          </a:p>
        </p:txBody>
      </p:sp>
      <p:sp>
        <p:nvSpPr>
          <p:cNvPr id="163" name="Google Shape;16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42459625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1284</Words>
  <Application>Microsoft Office PowerPoint</Application>
  <PresentationFormat>Widescreen</PresentationFormat>
  <Paragraphs>103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Symbol</vt:lpstr>
      <vt:lpstr>Times New Roman</vt:lpstr>
      <vt:lpstr>Office Theme</vt:lpstr>
      <vt:lpstr>ST JOSEPH ENGINEERING COLLEGE An Autonomous Institution  Department of Electronics and Communication Engineering  TITLE OF THE PROJECT  A sensor based system for detecting and approaching ambulance and controlling traffic signal</vt:lpstr>
      <vt:lpstr>Contents</vt:lpstr>
      <vt:lpstr>Introduction</vt:lpstr>
      <vt:lpstr>Objectives</vt:lpstr>
      <vt:lpstr>Methodology</vt:lpstr>
      <vt:lpstr>PowerPoint Presentation</vt:lpstr>
      <vt:lpstr>Results and Discussion </vt:lpstr>
      <vt:lpstr>Conclusion</vt:lpstr>
      <vt:lpstr>Learning Outcomes</vt:lpstr>
      <vt:lpstr>Learning Outcomes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Rohan Pinto</dc:creator>
  <cp:lastModifiedBy>Frenny Saldanha</cp:lastModifiedBy>
  <cp:revision>7</cp:revision>
  <dcterms:created xsi:type="dcterms:W3CDTF">2021-10-01T10:27:30Z</dcterms:created>
  <dcterms:modified xsi:type="dcterms:W3CDTF">2025-04-30T14:03:57Z</dcterms:modified>
</cp:coreProperties>
</file>